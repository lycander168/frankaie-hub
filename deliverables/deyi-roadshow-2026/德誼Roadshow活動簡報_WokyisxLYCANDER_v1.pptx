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64008" cy="6858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914400"/>
            <a:ext cx="1920240" cy="1920240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0" y="3383280"/>
            <a:ext cx="1371600" cy="1371600"/>
          </a:xfrm>
          <a:prstGeom prst="ellipse">
            <a:avLst/>
          </a:prstGeom>
          <a:noFill/>
          <a:ln w="27940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05156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</a:rPr>
              <a:t>2026 夏季快閃巡迴 ROADSHOW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83080"/>
            <a:ext cx="7863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6000" b="1">
                <a:solidFill>
                  <a:srgbClr val="FFFFFF"/>
                </a:solidFill>
                <a:latin typeface="Microsoft JhengHei"/>
                <a:ea typeface="Microsoft JhengHei"/>
              </a:rPr>
              <a:t>德誼 Roadshow</a:t>
            </a:r>
          </a:p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6000" b="1">
                <a:solidFill>
                  <a:srgbClr val="FFFFFF"/>
                </a:solidFill>
                <a:latin typeface="Microsoft JhengHei"/>
                <a:ea typeface="Microsoft JhengHei"/>
              </a:rPr>
              <a:t>活動企劃簡報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977639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0">
                <a:solidFill>
                  <a:srgbClr val="9A9AA0"/>
                </a:solidFill>
                <a:latin typeface="Microsoft JhengHei"/>
                <a:ea typeface="Microsoft JhengHei"/>
              </a:rPr>
              <a:t>主題品牌　</a:t>
            </a: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Wokyis</a:t>
            </a:r>
            <a:r>
              <a:rPr sz="1600" b="0">
                <a:solidFill>
                  <a:srgbClr val="9A9AA0"/>
                </a:solidFill>
                <a:latin typeface="Microsoft JhengHei"/>
                <a:ea typeface="Microsoft JhengHei"/>
              </a:rPr>
              <a:t>　×　</a:t>
            </a: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LYCANDER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709160"/>
            <a:ext cx="3383280" cy="105156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4709160"/>
            <a:ext cx="54864" cy="105156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46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9A9AA0"/>
                </a:solidFill>
                <a:latin typeface="Microsoft JhengHei"/>
                <a:ea typeface="Microsoft JhengHei"/>
              </a:rPr>
              <a:t>場次一　</a:t>
            </a: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7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218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</a:rPr>
              <a:t>新竹巨城 Big 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4709160"/>
            <a:ext cx="3383280" cy="105156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98848" y="4709160"/>
            <a:ext cx="54864" cy="105156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4846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9A9AA0"/>
                </a:solidFill>
                <a:latin typeface="Microsoft JhengHei"/>
                <a:ea typeface="Microsoft JhengHei"/>
              </a:rPr>
              <a:t>場次二　</a:t>
            </a: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7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3218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</a:rPr>
              <a:t>台北三創 Syntrend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9A9AA0"/>
                </a:solidFill>
                <a:latin typeface="Microsoft JhengHei"/>
                <a:ea typeface="Microsoft JhengHei"/>
              </a:rPr>
              <a:t>交付對象：行銷協作公司　|　提案版本 v1　|　日期：2026.06.25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220">
                <a:solidFill>
                  <a:srgbClr val="FF5A36"/>
                </a:solidFill>
                <a:latin typeface="Microsoft JhengHei"/>
                <a:ea typeface="Microsoft JhengHei"/>
              </a:rPr>
              <a:t>ACTIVITY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8229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D1D1F"/>
                </a:solidFill>
                <a:latin typeface="Microsoft JhengHei"/>
                <a:ea typeface="Microsoft JhengHei"/>
              </a:rPr>
              <a:t>活動總覽・一頁看懂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00784"/>
            <a:ext cx="10509199" cy="16459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8740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D1D1F"/>
                </a:solidFill>
                <a:latin typeface="Microsoft JhengHei"/>
                <a:ea typeface="Microsoft JhengHei"/>
              </a:rPr>
              <a:t>02</a:t>
            </a:r>
            <a:r>
              <a:rPr sz="1200" b="0">
                <a:solidFill>
                  <a:srgbClr val="9A9AA0"/>
                </a:solidFill>
                <a:latin typeface="Microsoft JhengHei"/>
                <a:ea typeface="Microsoft JhengHei"/>
              </a:rPr>
              <a:t>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993392"/>
            <a:ext cx="3401568" cy="175564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93392"/>
            <a:ext cx="54864" cy="175564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76272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20">
                <a:solidFill>
                  <a:srgbClr val="FF5A36"/>
                </a:solidFill>
                <a:latin typeface="Microsoft JhengHei"/>
                <a:ea typeface="Microsoft JhengHei"/>
              </a:rPr>
              <a:t>活動性質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450592"/>
            <a:ext cx="29900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1D1D1F"/>
                </a:solidFill>
                <a:latin typeface="Microsoft JhengHei"/>
                <a:ea typeface="Microsoft JhengHei"/>
              </a:rPr>
              <a:t>通路快閃 Roadshow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於德誼門市／百貨設櫃，主打體驗＋限時優惠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993392"/>
            <a:ext cx="3401568" cy="175564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993392"/>
            <a:ext cx="54864" cy="17556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2176272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20">
                <a:solidFill>
                  <a:srgbClr val="0A84FF"/>
                </a:solidFill>
                <a:latin typeface="Microsoft JhengHei"/>
                <a:ea typeface="Microsoft JhengHei"/>
              </a:rPr>
              <a:t>檔期場次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450592"/>
            <a:ext cx="29900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1D1D1F"/>
                </a:solidFill>
                <a:latin typeface="Microsoft JhengHei"/>
                <a:ea typeface="Microsoft JhengHei"/>
              </a:rPr>
              <a:t>2 場・7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2980944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7/5 新竹巨城　|　7/12 台北三創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2" y="1993392"/>
            <a:ext cx="3401568" cy="175564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2" y="1993392"/>
            <a:ext cx="54864" cy="1755648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176272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20">
                <a:solidFill>
                  <a:srgbClr val="1D1D1F"/>
                </a:solidFill>
                <a:latin typeface="Microsoft JhengHei"/>
                <a:ea typeface="Microsoft JhengHei"/>
              </a:rPr>
              <a:t>主題品牌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450592"/>
            <a:ext cx="29900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1D1D1F"/>
                </a:solidFill>
                <a:latin typeface="Microsoft JhengHei"/>
                <a:ea typeface="Microsoft JhengHei"/>
              </a:rPr>
              <a:t>Wokyis × LYCANDER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980944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Wokyis M5 為主推英雄商品，LYCANDER 周邊加值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3950208"/>
            <a:ext cx="3401568" cy="175564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" y="3950208"/>
            <a:ext cx="54864" cy="175564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133088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20">
                <a:solidFill>
                  <a:srgbClr val="FF5A36"/>
                </a:solidFill>
                <a:latin typeface="Microsoft JhengHei"/>
                <a:ea typeface="Microsoft JhengHei"/>
              </a:rPr>
              <a:t>核心優惠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407408"/>
            <a:ext cx="29900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1D1D1F"/>
                </a:solidFill>
                <a:latin typeface="Microsoft JhengHei"/>
                <a:ea typeface="Microsoft JhengHei"/>
              </a:rPr>
              <a:t>快閃 9 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93776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活動期間全品項限時 9 折，營造搶購氛圍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3950208"/>
            <a:ext cx="3401568" cy="175564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950208"/>
            <a:ext cx="54864" cy="1755648"/>
          </a:xfrm>
          <a:prstGeom prst="rect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2584" y="4133088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20">
                <a:solidFill>
                  <a:srgbClr val="B8893B"/>
                </a:solidFill>
                <a:latin typeface="Microsoft JhengHei"/>
                <a:ea typeface="Microsoft JhengHei"/>
              </a:rPr>
              <a:t>加碼贈品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2584" y="4407408"/>
            <a:ext cx="29900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1D1D1F"/>
                </a:solidFill>
                <a:latin typeface="Microsoft JhengHei"/>
                <a:ea typeface="Microsoft JhengHei"/>
              </a:rPr>
              <a:t>買 M5 雙重送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2584" y="493776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Mac Mini 鋁合金支架＋HDMI 2.1 8K 影音線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28432" y="3950208"/>
            <a:ext cx="3401568" cy="175564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28432" y="3950208"/>
            <a:ext cx="54864" cy="17556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6176" y="4133088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20">
                <a:solidFill>
                  <a:srgbClr val="0A84FF"/>
                </a:solidFill>
                <a:latin typeface="Microsoft JhengHei"/>
                <a:ea typeface="Microsoft JhengHei"/>
              </a:rPr>
              <a:t>滿額好禮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407408"/>
            <a:ext cx="29900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1D1D1F"/>
                </a:solidFill>
                <a:latin typeface="Microsoft JhengHei"/>
                <a:ea typeface="Microsoft JhengHei"/>
              </a:rPr>
              <a:t>單筆滿 $1,000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493776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贈 YOYOISLES AirTag 保護套（市值 $190）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9A9AA0"/>
                </a:solidFill>
                <a:latin typeface="Microsoft JhengHei"/>
                <a:ea typeface="Microsoft JhengHei"/>
              </a:rPr>
              <a:t>德誼 Roadshow　</a:t>
            </a: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Wokyis × LYCANDER 快閃活動簡報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2847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機密・限行銷協作使用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220">
                <a:solidFill>
                  <a:srgbClr val="FF5A36"/>
                </a:solidFill>
                <a:latin typeface="Microsoft JhengHei"/>
                <a:ea typeface="Microsoft JhengHe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8229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D1D1F"/>
                </a:solidFill>
                <a:latin typeface="Microsoft JhengHei"/>
                <a:ea typeface="Microsoft JhengHei"/>
              </a:rPr>
              <a:t>活動目的與策略目標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00784"/>
            <a:ext cx="10509199" cy="16459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8740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D1D1F"/>
                </a:solidFill>
                <a:latin typeface="Microsoft JhengHei"/>
                <a:ea typeface="Microsoft JhengHei"/>
              </a:rPr>
              <a:t>03</a:t>
            </a:r>
            <a:r>
              <a:rPr sz="1200" b="0">
                <a:solidFill>
                  <a:srgbClr val="9A9AA0"/>
                </a:solidFill>
                <a:latin typeface="Microsoft JhengHei"/>
                <a:ea typeface="Microsoft JhengHei"/>
              </a:rPr>
              <a:t>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011680"/>
            <a:ext cx="5117439" cy="17830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249424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>
                <a:solidFill>
                  <a:srgbClr val="FF5A36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304288"/>
            <a:ext cx="3425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>
                <a:solidFill>
                  <a:srgbClr val="1D1D1F"/>
                </a:solidFill>
                <a:latin typeface="Microsoft JhengHei"/>
                <a:ea typeface="Microsoft JhengHei"/>
              </a:rPr>
              <a:t>推升 Wokyis M5 銷量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2798064"/>
            <a:ext cx="3380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6E6E73"/>
                </a:solidFill>
                <a:latin typeface="Microsoft JhengHei"/>
                <a:ea typeface="Microsoft JhengHei"/>
              </a:rPr>
              <a:t>以快閃 9 折＋雙重贈品打造「現在買最划算」的急迫感，集中火力衝刺英雄商品。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011680"/>
            <a:ext cx="5117439" cy="17830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5615" y="2249424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>
                <a:solidFill>
                  <a:srgbClr val="FF5A36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0327" y="2304288"/>
            <a:ext cx="3425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>
                <a:solidFill>
                  <a:srgbClr val="1D1D1F"/>
                </a:solidFill>
                <a:latin typeface="Microsoft JhengHei"/>
                <a:ea typeface="Microsoft JhengHei"/>
              </a:rPr>
              <a:t>建立品牌體驗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0327" y="2798064"/>
            <a:ext cx="3380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6E6E73"/>
                </a:solidFill>
                <a:latin typeface="Microsoft JhengHei"/>
                <a:ea typeface="Microsoft JhengHei"/>
              </a:rPr>
              <a:t>於高人流地點讓消費者實際接觸 Wokyis 與 LYCANDER，強化品牌記憶與信任。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023360"/>
            <a:ext cx="5117439" cy="17830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261104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>
                <a:solidFill>
                  <a:srgbClr val="FF5A36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4315968"/>
            <a:ext cx="3425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>
                <a:solidFill>
                  <a:srgbClr val="1D1D1F"/>
                </a:solidFill>
                <a:latin typeface="Microsoft JhengHei"/>
                <a:ea typeface="Microsoft JhengHei"/>
              </a:rPr>
              <a:t>帶動連帶銷售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4809744"/>
            <a:ext cx="3380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6E6E73"/>
                </a:solidFill>
                <a:latin typeface="Microsoft JhengHei"/>
                <a:ea typeface="Microsoft JhengHei"/>
              </a:rPr>
              <a:t>用「單筆滿千送」拉高客單價，將 LYCANDER 周邊與配件一併帶出。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4023360"/>
            <a:ext cx="5117439" cy="17830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5615" y="4261104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>
                <a:solidFill>
                  <a:srgbClr val="FF5A36"/>
                </a:solidFill>
                <a:latin typeface="Microsoft JhengHei"/>
                <a:ea typeface="Microsoft Jheng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0327" y="4315968"/>
            <a:ext cx="3425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>
                <a:solidFill>
                  <a:srgbClr val="1D1D1F"/>
                </a:solidFill>
                <a:latin typeface="Microsoft JhengHei"/>
                <a:ea typeface="Microsoft JhengHei"/>
              </a:rPr>
              <a:t>蒐集名單與聲量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327" y="4809744"/>
            <a:ext cx="3380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6E6E73"/>
                </a:solidFill>
                <a:latin typeface="Microsoft JhengHei"/>
                <a:ea typeface="Microsoft JhengHei"/>
              </a:rPr>
              <a:t>現場互動、社群打卡與會員加入，累積後續再行銷的第一方名單。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9A9AA0"/>
                </a:solidFill>
                <a:latin typeface="Microsoft JhengHei"/>
                <a:ea typeface="Microsoft JhengHei"/>
              </a:rPr>
              <a:t>德誼 Roadshow　</a:t>
            </a: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Wokyis × LYCANDER 快閃活動簡報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2847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機密・限行銷協作使用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220">
                <a:solidFill>
                  <a:srgbClr val="0A84FF"/>
                </a:solidFill>
                <a:latin typeface="Microsoft JhengHei"/>
                <a:ea typeface="Microsoft JhengHei"/>
              </a:rPr>
              <a:t>SCHEDULE &amp; 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8229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D1D1F"/>
                </a:solidFill>
                <a:latin typeface="Microsoft JhengHei"/>
                <a:ea typeface="Microsoft JhengHei"/>
              </a:rPr>
              <a:t>活動檔期與場地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00784"/>
            <a:ext cx="10509199" cy="16459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8740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D1D1F"/>
                </a:solidFill>
                <a:latin typeface="Microsoft JhengHei"/>
                <a:ea typeface="Microsoft JhengHei"/>
              </a:rPr>
              <a:t>04</a:t>
            </a:r>
            <a:r>
              <a:rPr sz="1200" b="0">
                <a:solidFill>
                  <a:srgbClr val="9A9AA0"/>
                </a:solidFill>
                <a:latin typeface="Microsoft JhengHei"/>
                <a:ea typeface="Microsoft JhengHei"/>
              </a:rPr>
              <a:t>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993392"/>
            <a:ext cx="5099151" cy="41148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93392"/>
            <a:ext cx="5099151" cy="82296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2121408"/>
            <a:ext cx="41847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7 / 5</a:t>
            </a: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</a:rPr>
              <a:t>（日）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615184"/>
            <a:ext cx="455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新竹巨城購物中心</a:t>
            </a: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</a:rPr>
              <a:t>　</a:t>
            </a: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</a:rPr>
              <a:t>Big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063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6E6E73"/>
                </a:solidFill>
                <a:latin typeface="Microsoft JhengHei"/>
                <a:ea typeface="Microsoft JhengHei"/>
              </a:rPr>
              <a:t>地點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3063240"/>
            <a:ext cx="27217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1D1D1F"/>
                </a:solidFill>
                <a:latin typeface="Microsoft JhengHei"/>
                <a:ea typeface="Microsoft JhengHei"/>
              </a:rPr>
              <a:t>新竹巨城・人流主動線設櫃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144" y="3557015"/>
            <a:ext cx="4477359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366674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6E6E73"/>
                </a:solidFill>
                <a:latin typeface="Microsoft JhengHei"/>
                <a:ea typeface="Microsoft JhengHei"/>
              </a:rPr>
              <a:t>建議時段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666744"/>
            <a:ext cx="27217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1D1D1F"/>
                </a:solidFill>
                <a:latin typeface="Microsoft JhengHei"/>
                <a:ea typeface="Microsoft JhengHei"/>
              </a:rPr>
              <a:t>11:00 – 21:00（百貨營業時間）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2144" y="4160520"/>
            <a:ext cx="4477359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42702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6E6E73"/>
                </a:solidFill>
                <a:latin typeface="Microsoft JhengHei"/>
                <a:ea typeface="Microsoft JhengHei"/>
              </a:rPr>
              <a:t>主打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4270248"/>
            <a:ext cx="27217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1D1D1F"/>
                </a:solidFill>
                <a:latin typeface="Microsoft JhengHei"/>
                <a:ea typeface="Microsoft JhengHei"/>
              </a:rPr>
              <a:t>Wokyis M5 體驗 × 快閃 9 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2144" y="4764024"/>
            <a:ext cx="4477359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2144" y="48737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6E6E73"/>
                </a:solidFill>
                <a:latin typeface="Microsoft JhengHei"/>
                <a:ea typeface="Microsoft JhengHei"/>
              </a:rPr>
              <a:t>客群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873752"/>
            <a:ext cx="27217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1D1D1F"/>
                </a:solidFill>
                <a:latin typeface="Microsoft JhengHei"/>
                <a:ea typeface="Microsoft JhengHei"/>
              </a:rPr>
              <a:t>新竹科學園區家庭、3C 重度族群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2144" y="5367528"/>
            <a:ext cx="4477359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2144" y="54772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6E6E73"/>
                </a:solidFill>
                <a:latin typeface="Microsoft JhengHei"/>
                <a:ea typeface="Microsoft JhengHei"/>
              </a:rPr>
              <a:t>佈場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2928" y="5477256"/>
            <a:ext cx="27217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1D1D1F"/>
                </a:solidFill>
                <a:latin typeface="Microsoft JhengHei"/>
                <a:ea typeface="Microsoft JhengHei"/>
              </a:rPr>
              <a:t>活動前一日 18:00 後進場佈置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52144" y="5971032"/>
            <a:ext cx="4477359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1295" y="1993392"/>
            <a:ext cx="5099151" cy="41148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51295" y="1993392"/>
            <a:ext cx="5099151" cy="82296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2191" y="2121408"/>
            <a:ext cx="41847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7 / 12</a:t>
            </a: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</a:rPr>
              <a:t>（日）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191" y="2615184"/>
            <a:ext cx="455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台北三創生活園區</a:t>
            </a: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</a:rPr>
              <a:t>　</a:t>
            </a: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</a:rPr>
              <a:t>Syntrend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2191" y="3063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6E6E73"/>
                </a:solidFill>
                <a:latin typeface="Microsoft JhengHei"/>
                <a:ea typeface="Microsoft JhengHei"/>
              </a:rPr>
              <a:t>地點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2975" y="3063240"/>
            <a:ext cx="27217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1D1D1F"/>
                </a:solidFill>
                <a:latin typeface="Microsoft JhengHei"/>
                <a:ea typeface="Microsoft JhengHei"/>
              </a:rPr>
              <a:t>三創・3C 指標賣場樓層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62191" y="3557015"/>
            <a:ext cx="4477359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2191" y="366674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6E6E73"/>
                </a:solidFill>
                <a:latin typeface="Microsoft JhengHei"/>
                <a:ea typeface="Microsoft JhengHei"/>
              </a:rPr>
              <a:t>建議時段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2975" y="3666744"/>
            <a:ext cx="27217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1D1D1F"/>
                </a:solidFill>
                <a:latin typeface="Microsoft JhengHei"/>
                <a:ea typeface="Microsoft JhengHei"/>
              </a:rPr>
              <a:t>11:00 – 21:30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62191" y="4160520"/>
            <a:ext cx="4477359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2191" y="42702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6E6E73"/>
                </a:solidFill>
                <a:latin typeface="Microsoft JhengHei"/>
                <a:ea typeface="Microsoft JhengHei"/>
              </a:rPr>
              <a:t>主打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2975" y="4270248"/>
            <a:ext cx="27217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1D1D1F"/>
                </a:solidFill>
                <a:latin typeface="Microsoft JhengHei"/>
                <a:ea typeface="Microsoft JhengHei"/>
              </a:rPr>
              <a:t>Wokyis M5 × LYCANDER 周邊組合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62191" y="4764024"/>
            <a:ext cx="4477359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2191" y="48737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6E6E73"/>
                </a:solidFill>
                <a:latin typeface="Microsoft JhengHei"/>
                <a:ea typeface="Microsoft JhengHei"/>
              </a:rPr>
              <a:t>客群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2975" y="4873752"/>
            <a:ext cx="27217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1D1D1F"/>
                </a:solidFill>
                <a:latin typeface="Microsoft JhengHei"/>
                <a:ea typeface="Microsoft JhengHei"/>
              </a:rPr>
              <a:t>北市科技嘗鮮族、Apple 生態用戶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62191" y="5367528"/>
            <a:ext cx="4477359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2191" y="54772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6E6E73"/>
                </a:solidFill>
                <a:latin typeface="Microsoft JhengHei"/>
                <a:ea typeface="Microsoft JhengHei"/>
              </a:rPr>
              <a:t>佈場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2975" y="5477256"/>
            <a:ext cx="27217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1D1D1F"/>
                </a:solidFill>
                <a:latin typeface="Microsoft JhengHei"/>
                <a:ea typeface="Microsoft JhengHei"/>
              </a:rPr>
              <a:t>活動前一日 19:00 後進場佈置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62191" y="5971032"/>
            <a:ext cx="4477359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9A9AA0"/>
                </a:solidFill>
                <a:latin typeface="Microsoft JhengHei"/>
                <a:ea typeface="Microsoft JhengHei"/>
              </a:rPr>
              <a:t>德誼 Roadshow　</a:t>
            </a: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Wokyis × LYCANDER 快閃活動簡報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2847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機密・限行銷協作使用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220">
                <a:solidFill>
                  <a:srgbClr val="1D1D1F"/>
                </a:solidFill>
                <a:latin typeface="Microsoft JhengHei"/>
                <a:ea typeface="Microsoft JhengHei"/>
              </a:rPr>
              <a:t>FEATURED BRANDS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8229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D1D1F"/>
                </a:solidFill>
                <a:latin typeface="Microsoft JhengHei"/>
                <a:ea typeface="Microsoft JhengHei"/>
              </a:rPr>
              <a:t>主題品牌與商品線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00784"/>
            <a:ext cx="10509199" cy="16459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8740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D1D1F"/>
                </a:solidFill>
                <a:latin typeface="Microsoft JhengHei"/>
                <a:ea typeface="Microsoft JhengHei"/>
              </a:rPr>
              <a:t>05</a:t>
            </a:r>
            <a:r>
              <a:rPr sz="1200" b="0">
                <a:solidFill>
                  <a:srgbClr val="9A9AA0"/>
                </a:solidFill>
                <a:latin typeface="Microsoft JhengHei"/>
                <a:ea typeface="Microsoft JhengHei"/>
              </a:rPr>
              <a:t>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993392"/>
            <a:ext cx="5358384" cy="41148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93392"/>
            <a:ext cx="5358384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Wokyis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" y="29260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英雄主推商品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5204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Wokyis </a:t>
            </a:r>
            <a:r>
              <a:rPr sz="2600" b="1">
                <a:solidFill>
                  <a:srgbClr val="FF5A36"/>
                </a:solidFill>
                <a:latin typeface="Microsoft JhengHei"/>
                <a:ea typeface="Microsoft JhengHei"/>
              </a:rPr>
              <a:t>M5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14800"/>
            <a:ext cx="4663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>
                <a:solidFill>
                  <a:srgbClr val="F5F5F7"/>
                </a:solidFill>
                <a:latin typeface="Microsoft JhengHei"/>
                <a:ea typeface="Microsoft JhengHei"/>
              </a:rPr>
              <a:t>・本檔活動的主角，搭配快閃 9 折最有感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>
                <a:solidFill>
                  <a:srgbClr val="F5F5F7"/>
                </a:solidFill>
                <a:latin typeface="Microsoft JhengHei"/>
                <a:ea typeface="Microsoft JhengHei"/>
              </a:rPr>
              <a:t>・購買即啟動「雙重贈品」加碼機制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>
                <a:solidFill>
                  <a:srgbClr val="F5F5F7"/>
                </a:solidFill>
                <a:latin typeface="Microsoft JhengHei"/>
                <a:ea typeface="Microsoft JhengHei"/>
              </a:rPr>
              <a:t>・現場設體驗區，主打實機操作與情境展示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>
                <a:solidFill>
                  <a:srgbClr val="F5F5F7"/>
                </a:solidFill>
                <a:latin typeface="Microsoft JhengHei"/>
                <a:ea typeface="Microsoft JhengHei"/>
              </a:rPr>
              <a:t>・銷售與名單蒐集主要承載品項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0528" y="1993392"/>
            <a:ext cx="5358384" cy="41148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0528" y="1993392"/>
            <a:ext cx="5358384" cy="6400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D1D1F"/>
                </a:solidFill>
                <a:latin typeface="Microsoft JhengHei"/>
                <a:ea typeface="Microsoft JhengHei"/>
              </a:rPr>
              <a:t>LYCANDER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2926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Apple 周邊配件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5204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>
                <a:solidFill>
                  <a:srgbClr val="1D1D1F"/>
                </a:solidFill>
                <a:latin typeface="Microsoft JhengHei"/>
                <a:ea typeface="Microsoft JhengHei"/>
              </a:rPr>
              <a:t>精品級擴充與影音配件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4114800"/>
            <a:ext cx="4663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1">
                <a:solidFill>
                  <a:srgbClr val="1D1D1F"/>
                </a:solidFill>
                <a:latin typeface="Microsoft JhengHei"/>
                <a:ea typeface="Microsoft JhengHei"/>
              </a:rPr>
              <a:t>・Mac Mini M4 &amp; M4 Pro 鋁合金支架</a:t>
            </a:r>
          </a:p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　質感擴充、與機身一體成型設計</a:t>
            </a:r>
          </a:p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1">
                <a:solidFill>
                  <a:srgbClr val="1D1D1F"/>
                </a:solidFill>
                <a:latin typeface="Microsoft JhengHei"/>
                <a:ea typeface="Microsoft JhengHei"/>
              </a:rPr>
              <a:t>・HDMI 2.1 8K 高畫質認證影音傳輸線（1.5M）</a:t>
            </a:r>
          </a:p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　支援 8K 極細認證，影音玩家首選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9A9AA0"/>
                </a:solidFill>
                <a:latin typeface="Microsoft JhengHei"/>
                <a:ea typeface="Microsoft JhengHei"/>
              </a:rPr>
              <a:t>德誼 Roadshow　</a:t>
            </a: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Wokyis × LYCANDER 快閃活動簡報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2847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機密・限行銷協作使用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220">
                <a:solidFill>
                  <a:srgbClr val="FF5A36"/>
                </a:solidFill>
                <a:latin typeface="Microsoft JhengHei"/>
                <a:ea typeface="Microsoft JhengHei"/>
              </a:rPr>
              <a:t>CORE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8229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核心優惠　快閃 9 折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700784"/>
            <a:ext cx="10509199" cy="16459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286000"/>
            <a:ext cx="4846320" cy="338328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286000"/>
            <a:ext cx="73152" cy="338328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514600"/>
            <a:ext cx="48463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0" b="1">
                <a:solidFill>
                  <a:srgbClr val="FF5A36"/>
                </a:solidFill>
                <a:latin typeface="Microsoft JhengHei"/>
                <a:ea typeface="Microsoft JhengHei"/>
              </a:rPr>
              <a:t>9</a:t>
            </a:r>
            <a:r>
              <a:rPr sz="5400" b="1">
                <a:solidFill>
                  <a:srgbClr val="FFFFFF"/>
                </a:solidFill>
                <a:latin typeface="Microsoft JhengHei"/>
                <a:ea typeface="Microsoft JhengHei"/>
              </a:rPr>
              <a:t>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0749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0">
                <a:solidFill>
                  <a:srgbClr val="F5F5F7"/>
                </a:solidFill>
                <a:latin typeface="Microsoft JhengHei"/>
                <a:ea typeface="Microsoft JhengHei"/>
              </a:rPr>
              <a:t>活動期間・限時快閃價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2286000"/>
            <a:ext cx="5486400" cy="713232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2286000"/>
            <a:ext cx="54864" cy="71323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0487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5A36"/>
                </a:solidFill>
                <a:latin typeface="Microsoft JhengHei"/>
                <a:ea typeface="Microsoft JhengHei"/>
              </a:rPr>
              <a:t>適用範圍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7" y="2404872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Microsoft JhengHei"/>
                <a:ea typeface="Microsoft JhengHei"/>
              </a:rPr>
              <a:t>活動現場全品項適用快閃 9 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3127248"/>
            <a:ext cx="5486400" cy="713232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3127248"/>
            <a:ext cx="54864" cy="71323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5A36"/>
                </a:solidFill>
                <a:latin typeface="Microsoft JhengHei"/>
                <a:ea typeface="Microsoft JhengHei"/>
              </a:rPr>
              <a:t>適用時間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7" y="324612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Microsoft JhengHei"/>
                <a:ea typeface="Microsoft JhengHei"/>
              </a:rPr>
              <a:t>僅限 7/5、7/12 兩場活動當日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3968496"/>
            <a:ext cx="5486400" cy="713232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3968496"/>
            <a:ext cx="54864" cy="71323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0873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5A36"/>
                </a:solidFill>
                <a:latin typeface="Microsoft JhengHei"/>
                <a:ea typeface="Microsoft JhengHei"/>
              </a:rPr>
              <a:t>搭配機制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7" y="4087368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Microsoft JhengHei"/>
                <a:ea typeface="Microsoft JhengHei"/>
              </a:rPr>
              <a:t>可與「買 M5 雙重贈」「滿千送」並行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4809744"/>
            <a:ext cx="5486400" cy="713232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4809744"/>
            <a:ext cx="54864" cy="71323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92861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5A36"/>
                </a:solidFill>
                <a:latin typeface="Microsoft JhengHei"/>
                <a:ea typeface="Microsoft JhengHei"/>
              </a:rPr>
              <a:t>溝通主軸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7" y="4928616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Microsoft JhengHei"/>
                <a:ea typeface="Microsoft JhengHei"/>
              </a:rPr>
              <a:t>「只有這兩天」── 強化限時急迫感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355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9A9AA0"/>
                </a:solidFill>
                <a:latin typeface="Microsoft JhengHei"/>
                <a:ea typeface="Microsoft JhengHei"/>
              </a:rPr>
              <a:t>※ 折扣與贈品之最終適用條件、是否含特定品項，以德誼公告為準。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220">
                <a:solidFill>
                  <a:srgbClr val="B8893B"/>
                </a:solidFill>
                <a:latin typeface="Microsoft JhengHei"/>
                <a:ea typeface="Microsoft JhengHei"/>
              </a:rPr>
              <a:t>BUY M5 · DOUBLE GIFT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8229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D1D1F"/>
                </a:solidFill>
                <a:latin typeface="Microsoft JhengHei"/>
                <a:ea typeface="Microsoft JhengHei"/>
              </a:rPr>
              <a:t>加碼贈品　買 Wokyis M5 雙重送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00784"/>
            <a:ext cx="10509199" cy="16459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8740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D1D1F"/>
                </a:solidFill>
                <a:latin typeface="Microsoft JhengHei"/>
                <a:ea typeface="Microsoft JhengHei"/>
              </a:rPr>
              <a:t>07</a:t>
            </a:r>
            <a:r>
              <a:rPr sz="1200" b="0">
                <a:solidFill>
                  <a:srgbClr val="9A9AA0"/>
                </a:solidFill>
                <a:latin typeface="Microsoft JhengHei"/>
                <a:ea typeface="Microsoft JhengHei"/>
              </a:rPr>
              <a:t>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874519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</a:rPr>
              <a:t>購買 Wokyis M5 即享雙重好禮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514600"/>
            <a:ext cx="5117439" cy="31546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514600"/>
            <a:ext cx="5117439" cy="82296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4" y="2825496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</a:rPr>
              <a:t>禮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7087" y="2788920"/>
            <a:ext cx="10058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7087" y="278892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9A9AA0"/>
                </a:solidFill>
                <a:latin typeface="Microsoft JhengHei"/>
                <a:ea typeface="Microsoft JhengHei"/>
              </a:rPr>
              <a:t>商品圖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474720"/>
            <a:ext cx="4477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>
                <a:solidFill>
                  <a:srgbClr val="1D1D1F"/>
                </a:solidFill>
                <a:latin typeface="Microsoft JhengHei"/>
                <a:ea typeface="Microsoft JhengHei"/>
              </a:rPr>
              <a:t>Mac Mini M4 &amp; M4 Pro 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142232"/>
            <a:ext cx="4477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0A84FF"/>
                </a:solidFill>
                <a:latin typeface="Microsoft JhengHei"/>
                <a:ea typeface="Microsoft JhengHei"/>
              </a:rPr>
              <a:t>鋁合金支架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4572000"/>
            <a:ext cx="44773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E6E73"/>
                </a:solidFill>
                <a:latin typeface="Microsoft JhengHei"/>
                <a:ea typeface="Microsoft JhengHei"/>
              </a:rPr>
              <a:t>【LYCANDER】航太級鋁合金，為 Mac Mini M4 / M4 Pro 量身打造的質感擴充底座。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2514600"/>
            <a:ext cx="5117439" cy="31546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2514600"/>
            <a:ext cx="5117439" cy="82296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43903" y="2825496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</a:rPr>
              <a:t>禮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78847" y="2788920"/>
            <a:ext cx="10058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8847" y="278892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9A9AA0"/>
                </a:solidFill>
                <a:latin typeface="Microsoft JhengHei"/>
                <a:ea typeface="Microsoft JhengHei"/>
              </a:rPr>
              <a:t>商品圖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903" y="3474720"/>
            <a:ext cx="4477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>
                <a:solidFill>
                  <a:srgbClr val="1D1D1F"/>
                </a:solidFill>
                <a:latin typeface="Microsoft JhengHei"/>
                <a:ea typeface="Microsoft JhengHei"/>
              </a:rPr>
              <a:t>HDMI 2.1 8K 影音傳輸線（1.5M）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903" y="4142232"/>
            <a:ext cx="4477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5A36"/>
                </a:solidFill>
                <a:latin typeface="Microsoft JhengHei"/>
                <a:ea typeface="Microsoft JhengHei"/>
              </a:rPr>
              <a:t>極細認證線材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3903" y="4572000"/>
            <a:ext cx="44773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E6E73"/>
                </a:solidFill>
                <a:latin typeface="Microsoft JhengHei"/>
                <a:ea typeface="Microsoft JhengHei"/>
              </a:rPr>
              <a:t>【LYCANDER】通過 8K 高畫質認證，極細好收納，支援高更新率影音輸出。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1D1D1F"/>
                </a:solidFill>
                <a:latin typeface="Microsoft JhengHei"/>
                <a:ea typeface="Microsoft JhengHei"/>
              </a:rPr>
              <a:t>溝通重點：</a:t>
            </a: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一次購買 M5，兩件 LYCANDER 精品配件同步到手，等於「主機＋擴充＋影音」一站到位。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9A9AA0"/>
                </a:solidFill>
                <a:latin typeface="Microsoft JhengHei"/>
                <a:ea typeface="Microsoft JhengHei"/>
              </a:rPr>
              <a:t>德誼 Roadshow　</a:t>
            </a: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Wokyis × LYCANDER 快閃活動簡報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2847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機密・限行銷協作使用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220">
                <a:solidFill>
                  <a:srgbClr val="0A84FF"/>
                </a:solidFill>
                <a:latin typeface="Microsoft JhengHei"/>
                <a:ea typeface="Microsoft JhengHei"/>
              </a:rPr>
              <a:t>SPEND &amp;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8229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D1D1F"/>
                </a:solidFill>
                <a:latin typeface="Microsoft JhengHei"/>
                <a:ea typeface="Microsoft JhengHei"/>
              </a:rPr>
              <a:t>滿額好禮　單筆滿千即送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00784"/>
            <a:ext cx="10509199" cy="16459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8740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D1D1F"/>
                </a:solidFill>
                <a:latin typeface="Microsoft JhengHei"/>
                <a:ea typeface="Microsoft JhengHei"/>
              </a:rPr>
              <a:t>08</a:t>
            </a:r>
            <a:r>
              <a:rPr sz="1200" b="0">
                <a:solidFill>
                  <a:srgbClr val="9A9AA0"/>
                </a:solidFill>
                <a:latin typeface="Microsoft JhengHei"/>
                <a:ea typeface="Microsoft JhengHei"/>
              </a:rPr>
              <a:t>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103120"/>
            <a:ext cx="5852160" cy="3749039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103120"/>
            <a:ext cx="64008" cy="3749039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423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spc="120">
                <a:solidFill>
                  <a:srgbClr val="0A84FF"/>
                </a:solidFill>
                <a:latin typeface="Microsoft JhengHei"/>
                <a:ea typeface="Microsoft JhengHei"/>
              </a:rPr>
              <a:t>贈品機制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8036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>
                <a:solidFill>
                  <a:srgbClr val="1D1D1F"/>
                </a:solidFill>
                <a:latin typeface="Microsoft JhengHei"/>
                <a:ea typeface="Microsoft JhengHei"/>
              </a:rPr>
              <a:t>單筆結帳滿 </a:t>
            </a:r>
            <a:r>
              <a:rPr sz="3400" b="1">
                <a:solidFill>
                  <a:srgbClr val="0A84FF"/>
                </a:solidFill>
                <a:latin typeface="Microsoft JhengHei"/>
                <a:ea typeface="Microsoft JhengHei"/>
              </a:rPr>
              <a:t>$1,000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8404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>
                <a:solidFill>
                  <a:srgbClr val="1D1D1F"/>
                </a:solidFill>
                <a:latin typeface="Microsoft JhengHei"/>
                <a:ea typeface="Microsoft JhengHei"/>
              </a:rPr>
              <a:t>即贈 YOYOISLES AirTag 保護套 1 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6E6E73"/>
                </a:solidFill>
                <a:latin typeface="Microsoft JhengHei"/>
                <a:ea typeface="Microsoft JhengHei"/>
              </a:rPr>
              <a:t>・以低門檻拉高客單，鼓勵連帶購買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6E6E73"/>
                </a:solidFill>
                <a:latin typeface="Microsoft JhengHei"/>
                <a:ea typeface="Microsoft JhengHei"/>
              </a:rPr>
              <a:t>・贈完為止，營造「手刀搶贈」氛圍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6E6E73"/>
                </a:solidFill>
                <a:latin typeface="Microsoft JhengHei"/>
                <a:ea typeface="Microsoft JhengHei"/>
              </a:rPr>
              <a:t>・建議現場明示剩餘數量，提升轉換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2103120"/>
            <a:ext cx="4407408" cy="3749039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59168" y="2103120"/>
            <a:ext cx="4407408" cy="82296"/>
          </a:xfrm>
          <a:prstGeom prst="rect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77072" y="2468880"/>
            <a:ext cx="1371600" cy="1371600"/>
          </a:xfrm>
          <a:prstGeom prst="roundRect">
            <a:avLst/>
          </a:prstGeom>
          <a:solidFill>
            <a:srgbClr val="2C2C2E"/>
          </a:solidFill>
          <a:ln w="17780">
            <a:solidFill>
              <a:srgbClr val="B88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246888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9A9AA0"/>
                </a:solidFill>
                <a:latin typeface="Microsoft JhengHei"/>
                <a:ea typeface="Microsoft JhengHei"/>
              </a:rPr>
              <a:t>商品圖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397763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B8893B"/>
                </a:solidFill>
                <a:latin typeface="Microsoft JhengHei"/>
                <a:ea typeface="Microsoft JhengHei"/>
              </a:rPr>
              <a:t>【YOYOISLES】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42976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Air Stars AirTag 保護套／保護殼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50292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>
                <a:solidFill>
                  <a:srgbClr val="F5F5F7"/>
                </a:solidFill>
                <a:latin typeface="Microsoft JhengHei"/>
                <a:ea typeface="Microsoft JhengHei"/>
              </a:rPr>
              <a:t>門卡磁扣・安全無毒・輕量設計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7072" y="54406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Microsoft JhengHei"/>
                <a:ea typeface="Microsoft JhengHei"/>
              </a:rPr>
              <a:t>市值 $190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9A9AA0"/>
                </a:solidFill>
                <a:latin typeface="Microsoft JhengHei"/>
                <a:ea typeface="Microsoft JhengHei"/>
              </a:rPr>
              <a:t>德誼 Roadshow　</a:t>
            </a: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Wokyis × LYCANDER 快閃活動簡報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2847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機密・限行銷協作使用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220">
                <a:solidFill>
                  <a:srgbClr val="FF5A36"/>
                </a:solidFill>
                <a:latin typeface="Microsoft JhengHei"/>
                <a:ea typeface="Microsoft JhengHei"/>
              </a:rPr>
              <a:t>OFFER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8229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D1D1F"/>
                </a:solidFill>
                <a:latin typeface="Microsoft JhengHei"/>
                <a:ea typeface="Microsoft JhengHei"/>
              </a:rPr>
              <a:t>優惠機制總表・一頁掌握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00784"/>
            <a:ext cx="10509199" cy="16459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8740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D1D1F"/>
                </a:solidFill>
                <a:latin typeface="Microsoft JhengHei"/>
                <a:ea typeface="Microsoft JhengHei"/>
              </a:rPr>
              <a:t>09</a:t>
            </a:r>
            <a:r>
              <a:rPr sz="1200" b="0">
                <a:solidFill>
                  <a:srgbClr val="9A9AA0"/>
                </a:solidFill>
                <a:latin typeface="Microsoft JhengHei"/>
                <a:ea typeface="Microsoft JhengHei"/>
              </a:rPr>
              <a:t>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011680"/>
            <a:ext cx="10506455" cy="566928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0116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</a:rPr>
              <a:t>機制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80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</a:rPr>
              <a:t>條件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201168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</a:rPr>
              <a:t>內容 / 贈品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011680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</a:rPr>
              <a:t>市值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19" y="2011680"/>
            <a:ext cx="5394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</a:rPr>
              <a:t>備註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578608"/>
            <a:ext cx="10506455" cy="84124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3419856"/>
            <a:ext cx="10506455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2578608"/>
            <a:ext cx="54864" cy="84124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78608"/>
            <a:ext cx="197510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1D1D1F"/>
                </a:solidFill>
                <a:latin typeface="Microsoft JhengHei"/>
                <a:ea typeface="Microsoft JhengHei"/>
              </a:rPr>
              <a:t>快閃 9 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578608"/>
            <a:ext cx="243230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活動現場消費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2578608"/>
            <a:ext cx="36210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全品項限時 9 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578608"/>
            <a:ext cx="877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9A9AA0"/>
                </a:solidFill>
                <a:latin typeface="Microsoft JhengHei"/>
                <a:ea typeface="Microsoft JhengHe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19" y="2578608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兩場活動日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3419856"/>
            <a:ext cx="1050645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4261104"/>
            <a:ext cx="10506455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" y="3419856"/>
            <a:ext cx="54864" cy="8412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419856"/>
            <a:ext cx="197510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1D1D1F"/>
                </a:solidFill>
                <a:latin typeface="Microsoft JhengHei"/>
                <a:ea typeface="Microsoft JhengHei"/>
              </a:rPr>
              <a:t>買 M5 贈禮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419856"/>
            <a:ext cx="243230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購買 Wokyis M5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3419856"/>
            <a:ext cx="36210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LYCANDER Mac Mini 鋁合金支架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419856"/>
            <a:ext cx="877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9A9AA0"/>
                </a:solidFill>
                <a:latin typeface="Microsoft JhengHei"/>
                <a:ea typeface="Microsoft JhengHe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19" y="3419856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雙重送 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4261104"/>
            <a:ext cx="10506455" cy="84124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" y="5102352"/>
            <a:ext cx="10506455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1248" y="4261104"/>
            <a:ext cx="54864" cy="8412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261104"/>
            <a:ext cx="197510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1D1D1F"/>
                </a:solidFill>
                <a:latin typeface="Microsoft JhengHei"/>
                <a:ea typeface="Microsoft JhengHei"/>
              </a:rPr>
              <a:t>買 M5 贈禮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261104"/>
            <a:ext cx="243230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購買 Wokyis M5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59" y="4261104"/>
            <a:ext cx="36210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LYCANDER HDMI 2.1 8K 線（1.5M）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261104"/>
            <a:ext cx="877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9A9AA0"/>
                </a:solidFill>
                <a:latin typeface="Microsoft JhengHei"/>
                <a:ea typeface="Microsoft JhengHe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19" y="4261104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雙重送 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5102352"/>
            <a:ext cx="1050645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" y="5943600"/>
            <a:ext cx="10506455" cy="10972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8" y="5102352"/>
            <a:ext cx="54864" cy="841248"/>
          </a:xfrm>
          <a:prstGeom prst="rect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102352"/>
            <a:ext cx="197510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1D1D1F"/>
                </a:solidFill>
                <a:latin typeface="Microsoft JhengHei"/>
                <a:ea typeface="Microsoft JhengHei"/>
              </a:rPr>
              <a:t>滿額贈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102352"/>
            <a:ext cx="243230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單筆滿 $1,000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59" y="5102352"/>
            <a:ext cx="36210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YOYOISLES AirTag 保護套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5102352"/>
            <a:ext cx="877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B8893B"/>
                </a:solidFill>
                <a:latin typeface="Microsoft JhengHei"/>
                <a:ea typeface="Microsoft JhengHei"/>
              </a:rPr>
              <a:t>$190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19" y="5102352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1D1D1F"/>
                </a:solidFill>
                <a:latin typeface="Microsoft JhengHei"/>
                <a:ea typeface="Microsoft JhengHei"/>
              </a:rPr>
              <a:t>贈完為止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" y="61081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6E6E73"/>
                </a:solidFill>
                <a:latin typeface="Microsoft JhengHei"/>
                <a:ea typeface="Microsoft JhengHei"/>
              </a:rPr>
              <a:t>※ 各機制可疊加使用；最終適用條件、品項範圍與庫存以德誼及品牌方公告為準。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9A9AA0"/>
                </a:solidFill>
                <a:latin typeface="Microsoft JhengHei"/>
                <a:ea typeface="Microsoft JhengHei"/>
              </a:rPr>
              <a:t>德誼 Roadshow　</a:t>
            </a: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Wokyis × LYCANDER 快閃活動簡報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2847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機密・限行銷協作使用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220">
                <a:solidFill>
                  <a:srgbClr val="0A84FF"/>
                </a:solidFill>
                <a:latin typeface="Microsoft JhengHei"/>
                <a:ea typeface="Microsoft JhengHei"/>
              </a:rPr>
              <a:t>ON-SITE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8229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D1D1F"/>
                </a:solidFill>
                <a:latin typeface="Microsoft JhengHei"/>
                <a:ea typeface="Microsoft JhengHei"/>
              </a:rPr>
              <a:t>現場執行重點（建議）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00784"/>
            <a:ext cx="10509199" cy="16459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8740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D1D1F"/>
                </a:solidFill>
                <a:latin typeface="Microsoft JhengHei"/>
                <a:ea typeface="Microsoft JhengHei"/>
              </a:rPr>
              <a:t>10</a:t>
            </a:r>
            <a:r>
              <a:rPr sz="1200" b="0">
                <a:solidFill>
                  <a:srgbClr val="9A9AA0"/>
                </a:solidFill>
                <a:latin typeface="Microsoft JhengHei"/>
                <a:ea typeface="Microsoft JhengHei"/>
              </a:rPr>
              <a:t>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993392"/>
            <a:ext cx="2476423" cy="4023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93392"/>
            <a:ext cx="2476423" cy="56692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993392"/>
            <a:ext cx="22021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</a:rPr>
              <a:t>攤位與動線</a:t>
            </a:r>
          </a:p>
        </p:txBody>
      </p:sp>
      <p:sp>
        <p:nvSpPr>
          <p:cNvPr id="11" name="Oval 10"/>
          <p:cNvSpPr/>
          <p:nvPr/>
        </p:nvSpPr>
        <p:spPr>
          <a:xfrm>
            <a:off x="1060704" y="2852928"/>
            <a:ext cx="91440" cy="91440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743200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主視覺背板＋品牌 LOGO 牆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" y="3639312"/>
            <a:ext cx="91440" cy="91440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9584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Wokyis M5 體驗區（實機操作）</a:t>
            </a:r>
          </a:p>
        </p:txBody>
      </p:sp>
      <p:sp>
        <p:nvSpPr>
          <p:cNvPr id="15" name="Oval 14"/>
          <p:cNvSpPr/>
          <p:nvPr/>
        </p:nvSpPr>
        <p:spPr>
          <a:xfrm>
            <a:off x="1060704" y="4425696"/>
            <a:ext cx="91440" cy="91440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315968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贈品展示區，清楚標示機制</a:t>
            </a:r>
          </a:p>
        </p:txBody>
      </p:sp>
      <p:sp>
        <p:nvSpPr>
          <p:cNvPr id="17" name="Oval 16"/>
          <p:cNvSpPr/>
          <p:nvPr/>
        </p:nvSpPr>
        <p:spPr>
          <a:xfrm>
            <a:off x="1060704" y="5212080"/>
            <a:ext cx="91440" cy="91440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02352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結帳／名單登錄動線分流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18839" y="1993392"/>
            <a:ext cx="2476423" cy="4023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18839" y="1993392"/>
            <a:ext cx="2476423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0007" y="1993392"/>
            <a:ext cx="22021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</a:rPr>
              <a:t>人力配置</a:t>
            </a:r>
          </a:p>
        </p:txBody>
      </p:sp>
      <p:sp>
        <p:nvSpPr>
          <p:cNvPr id="22" name="Oval 21"/>
          <p:cNvSpPr/>
          <p:nvPr/>
        </p:nvSpPr>
        <p:spPr>
          <a:xfrm>
            <a:off x="3738295" y="2852928"/>
            <a:ext cx="91440" cy="9144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9463" y="2743200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現場主管 1 名（總控）</a:t>
            </a:r>
          </a:p>
        </p:txBody>
      </p:sp>
      <p:sp>
        <p:nvSpPr>
          <p:cNvPr id="24" name="Oval 23"/>
          <p:cNvSpPr/>
          <p:nvPr/>
        </p:nvSpPr>
        <p:spPr>
          <a:xfrm>
            <a:off x="3738295" y="3639312"/>
            <a:ext cx="91440" cy="9144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9463" y="3529584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銷售／導購 2–3 名</a:t>
            </a:r>
          </a:p>
        </p:txBody>
      </p:sp>
      <p:sp>
        <p:nvSpPr>
          <p:cNvPr id="26" name="Oval 25"/>
          <p:cNvSpPr/>
          <p:nvPr/>
        </p:nvSpPr>
        <p:spPr>
          <a:xfrm>
            <a:off x="3738295" y="4425696"/>
            <a:ext cx="91440" cy="9144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9463" y="4315968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體驗解說 1 名</a:t>
            </a:r>
          </a:p>
        </p:txBody>
      </p:sp>
      <p:sp>
        <p:nvSpPr>
          <p:cNvPr id="28" name="Oval 27"/>
          <p:cNvSpPr/>
          <p:nvPr/>
        </p:nvSpPr>
        <p:spPr>
          <a:xfrm>
            <a:off x="3738295" y="5212080"/>
            <a:ext cx="91440" cy="9144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9463" y="5102352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名單與打卡引導 1 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6431" y="1993392"/>
            <a:ext cx="2476423" cy="4023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6431" y="1993392"/>
            <a:ext cx="2476423" cy="566928"/>
          </a:xfrm>
          <a:prstGeom prst="rect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7599" y="1993392"/>
            <a:ext cx="22021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</a:rPr>
              <a:t>物料清單</a:t>
            </a:r>
          </a:p>
        </p:txBody>
      </p:sp>
      <p:sp>
        <p:nvSpPr>
          <p:cNvPr id="33" name="Oval 32"/>
          <p:cNvSpPr/>
          <p:nvPr/>
        </p:nvSpPr>
        <p:spPr>
          <a:xfrm>
            <a:off x="6415887" y="2852928"/>
            <a:ext cx="91440" cy="91440"/>
          </a:xfrm>
          <a:prstGeom prst="ellipse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7055" y="2743200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主視覺 KV、易拉展、桌卡</a:t>
            </a:r>
          </a:p>
        </p:txBody>
      </p:sp>
      <p:sp>
        <p:nvSpPr>
          <p:cNvPr id="35" name="Oval 34"/>
          <p:cNvSpPr/>
          <p:nvPr/>
        </p:nvSpPr>
        <p:spPr>
          <a:xfrm>
            <a:off x="6415887" y="3639312"/>
            <a:ext cx="91440" cy="91440"/>
          </a:xfrm>
          <a:prstGeom prst="ellipse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7055" y="3529584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優惠／贈品說明牌（含剩餘量）</a:t>
            </a:r>
          </a:p>
        </p:txBody>
      </p:sp>
      <p:sp>
        <p:nvSpPr>
          <p:cNvPr id="37" name="Oval 36"/>
          <p:cNvSpPr/>
          <p:nvPr/>
        </p:nvSpPr>
        <p:spPr>
          <a:xfrm>
            <a:off x="6415887" y="4425696"/>
            <a:ext cx="91440" cy="91440"/>
          </a:xfrm>
          <a:prstGeom prst="ellipse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7055" y="4315968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贈品庫存與簽收表</a:t>
            </a:r>
          </a:p>
        </p:txBody>
      </p:sp>
      <p:sp>
        <p:nvSpPr>
          <p:cNvPr id="39" name="Oval 38"/>
          <p:cNvSpPr/>
          <p:nvPr/>
        </p:nvSpPr>
        <p:spPr>
          <a:xfrm>
            <a:off x="6415887" y="5212080"/>
            <a:ext cx="91440" cy="91440"/>
          </a:xfrm>
          <a:prstGeom prst="ellipse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7055" y="5102352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POS／刷卡與發票設備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74023" y="1993392"/>
            <a:ext cx="2476423" cy="4023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74023" y="1993392"/>
            <a:ext cx="2476423" cy="566928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5191" y="1993392"/>
            <a:ext cx="22021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</a:rPr>
              <a:t>互動與蒐集</a:t>
            </a:r>
          </a:p>
        </p:txBody>
      </p:sp>
      <p:sp>
        <p:nvSpPr>
          <p:cNvPr id="44" name="Oval 43"/>
          <p:cNvSpPr/>
          <p:nvPr/>
        </p:nvSpPr>
        <p:spPr>
          <a:xfrm>
            <a:off x="9093479" y="2852928"/>
            <a:ext cx="91440" cy="91440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4647" y="2743200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社群打卡送小禮 / 抽獎</a:t>
            </a:r>
          </a:p>
        </p:txBody>
      </p:sp>
      <p:sp>
        <p:nvSpPr>
          <p:cNvPr id="46" name="Oval 45"/>
          <p:cNvSpPr/>
          <p:nvPr/>
        </p:nvSpPr>
        <p:spPr>
          <a:xfrm>
            <a:off x="9093479" y="3639312"/>
            <a:ext cx="91440" cy="91440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94647" y="3529584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會員加入 / 名單登錄</a:t>
            </a:r>
          </a:p>
        </p:txBody>
      </p:sp>
      <p:sp>
        <p:nvSpPr>
          <p:cNvPr id="48" name="Oval 47"/>
          <p:cNvSpPr/>
          <p:nvPr/>
        </p:nvSpPr>
        <p:spPr>
          <a:xfrm>
            <a:off x="9093479" y="4425696"/>
            <a:ext cx="91440" cy="91440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4647" y="4315968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現場短影音與照片素材</a:t>
            </a:r>
          </a:p>
        </p:txBody>
      </p:sp>
      <p:sp>
        <p:nvSpPr>
          <p:cNvPr id="50" name="Oval 49"/>
          <p:cNvSpPr/>
          <p:nvPr/>
        </p:nvSpPr>
        <p:spPr>
          <a:xfrm>
            <a:off x="9093479" y="5212080"/>
            <a:ext cx="91440" cy="91440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4647" y="5102352"/>
            <a:ext cx="19277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D1D1F"/>
                </a:solidFill>
                <a:latin typeface="Microsoft JhengHei"/>
                <a:ea typeface="Microsoft JhengHei"/>
              </a:rPr>
              <a:t>問卷或意見蒐集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9A9AA0"/>
                </a:solidFill>
                <a:latin typeface="Microsoft JhengHei"/>
                <a:ea typeface="Microsoft JhengHei"/>
              </a:rPr>
              <a:t>德誼 Roadshow　</a:t>
            </a: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Wokyis × LYCANDER 快閃活動簡報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92847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機密・限行銷協作使用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220">
                <a:solidFill>
                  <a:srgbClr val="FF5A36"/>
                </a:solidFill>
                <a:latin typeface="Microsoft JhengHei"/>
                <a:ea typeface="Microsoft JhengHei"/>
              </a:rPr>
              <a:t>ROLES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8229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D1D1F"/>
                </a:solidFill>
                <a:latin typeface="Microsoft JhengHei"/>
                <a:ea typeface="Microsoft JhengHei"/>
              </a:rPr>
              <a:t>行銷協作分工與時程（建議）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00784"/>
            <a:ext cx="10509199" cy="16459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8740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D1D1F"/>
                </a:solidFill>
                <a:latin typeface="Microsoft JhengHei"/>
                <a:ea typeface="Microsoft JhengHei"/>
              </a:rPr>
              <a:t>11</a:t>
            </a:r>
            <a:r>
              <a:rPr sz="1200" b="0">
                <a:solidFill>
                  <a:srgbClr val="9A9AA0"/>
                </a:solidFill>
                <a:latin typeface="Microsoft JhengHei"/>
                <a:ea typeface="Microsoft JhengHei"/>
              </a:rPr>
              <a:t>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20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>
                <a:solidFill>
                  <a:srgbClr val="1D1D1F"/>
                </a:solidFill>
                <a:latin typeface="Microsoft JhengHei"/>
                <a:ea typeface="Microsoft JhengHei"/>
              </a:rPr>
              <a:t>協作分工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377440"/>
            <a:ext cx="5212080" cy="9601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377440"/>
            <a:ext cx="54864" cy="96012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52374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1D1D1F"/>
                </a:solidFill>
                <a:latin typeface="Microsoft JhengHei"/>
                <a:ea typeface="Microsoft JhengHei"/>
              </a:rPr>
              <a:t>品牌方 / LYCANDER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商品、優惠政策、贈品供應、最終定案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474720"/>
            <a:ext cx="5212080" cy="9601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3474720"/>
            <a:ext cx="54864" cy="96012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6210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1D1D1F"/>
                </a:solidFill>
                <a:latin typeface="Microsoft JhengHei"/>
                <a:ea typeface="Microsoft JhengHei"/>
              </a:rPr>
              <a:t>行銷協作公司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986783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活動規劃、主視覺設計、現場執行、社群曝光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4572000"/>
            <a:ext cx="5212080" cy="9601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4572000"/>
            <a:ext cx="54864" cy="960120"/>
          </a:xfrm>
          <a:prstGeom prst="rect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7183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1D1D1F"/>
                </a:solidFill>
                <a:latin typeface="Microsoft JhengHei"/>
                <a:ea typeface="Microsoft JhengHei"/>
              </a:rPr>
              <a:t>德誼通路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08406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場地、人流、結帳系統、現場協調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1920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>
                <a:solidFill>
                  <a:srgbClr val="1D1D1F"/>
                </a:solidFill>
                <a:latin typeface="Microsoft JhengHei"/>
                <a:ea typeface="Microsoft JhengHei"/>
              </a:rPr>
              <a:t>關鍵時程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377440"/>
            <a:ext cx="22860" cy="3246120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93992" y="2377440"/>
            <a:ext cx="201168" cy="20116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96327" y="232257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1D1D1F"/>
                </a:solidFill>
                <a:latin typeface="Microsoft JhengHei"/>
                <a:ea typeface="Microsoft JhengHei"/>
              </a:rPr>
              <a:t>即日起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2322576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確認優惠／贈品數量、簽訂協作範圍</a:t>
            </a:r>
          </a:p>
        </p:txBody>
      </p:sp>
      <p:sp>
        <p:nvSpPr>
          <p:cNvPr id="26" name="Oval 25"/>
          <p:cNvSpPr/>
          <p:nvPr/>
        </p:nvSpPr>
        <p:spPr>
          <a:xfrm>
            <a:off x="6793992" y="3035808"/>
            <a:ext cx="201168" cy="20116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6327" y="2980944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1D1D1F"/>
                </a:solidFill>
                <a:latin typeface="Microsoft JhengHei"/>
                <a:ea typeface="Microsoft JhengHei"/>
              </a:rPr>
              <a:t>6 月底前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298094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主視覺定稿、物料發包、社群預熱規劃</a:t>
            </a:r>
          </a:p>
        </p:txBody>
      </p:sp>
      <p:sp>
        <p:nvSpPr>
          <p:cNvPr id="29" name="Oval 28"/>
          <p:cNvSpPr/>
          <p:nvPr/>
        </p:nvSpPr>
        <p:spPr>
          <a:xfrm>
            <a:off x="6793992" y="3694176"/>
            <a:ext cx="201168" cy="20116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96327" y="363931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1D1D1F"/>
                </a:solidFill>
                <a:latin typeface="Microsoft JhengHei"/>
                <a:ea typeface="Microsoft JhengHei"/>
              </a:rPr>
              <a:t>活動前 1 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2248" y="363931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物料到位、人力排班、教育訓練</a:t>
            </a:r>
          </a:p>
        </p:txBody>
      </p:sp>
      <p:sp>
        <p:nvSpPr>
          <p:cNvPr id="32" name="Oval 31"/>
          <p:cNvSpPr/>
          <p:nvPr/>
        </p:nvSpPr>
        <p:spPr>
          <a:xfrm>
            <a:off x="6793992" y="4352544"/>
            <a:ext cx="201168" cy="20116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96327" y="42976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1D1D1F"/>
                </a:solidFill>
                <a:latin typeface="Microsoft JhengHei"/>
                <a:ea typeface="Microsoft JhengHei"/>
              </a:rPr>
              <a:t>7/5・7/12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42976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現場執行、即時數據回報</a:t>
            </a:r>
          </a:p>
        </p:txBody>
      </p:sp>
      <p:sp>
        <p:nvSpPr>
          <p:cNvPr id="35" name="Oval 34"/>
          <p:cNvSpPr/>
          <p:nvPr/>
        </p:nvSpPr>
        <p:spPr>
          <a:xfrm>
            <a:off x="6793992" y="5010912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96327" y="495604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1D1D1F"/>
                </a:solidFill>
                <a:latin typeface="Microsoft JhengHei"/>
                <a:ea typeface="Microsoft JhengHei"/>
              </a:rPr>
              <a:t>活動後 1 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42248" y="495604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>
                <a:solidFill>
                  <a:srgbClr val="6E6E73"/>
                </a:solidFill>
                <a:latin typeface="Microsoft JhengHei"/>
                <a:ea typeface="Microsoft JhengHei"/>
              </a:rPr>
              <a:t>成效結算、名單交付、檢討報告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9A9AA0"/>
                </a:solidFill>
                <a:latin typeface="Microsoft JhengHei"/>
                <a:ea typeface="Microsoft JhengHei"/>
              </a:rPr>
              <a:t>德誼 Roadshow　</a:t>
            </a: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Wokyis × LYCANDER 快閃活動簡報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2847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9A9AA0"/>
                </a:solidFill>
                <a:latin typeface="Microsoft JhengHei"/>
                <a:ea typeface="Microsoft JhengHei"/>
              </a:rPr>
              <a:t>機密・限行銷協作使用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64008" cy="6858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77240"/>
            <a:ext cx="64008" cy="38404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200">
                <a:solidFill>
                  <a:srgbClr val="FF5A36"/>
                </a:solidFill>
                <a:latin typeface="Microsoft JhengHei"/>
                <a:ea typeface="Microsoft JhengHei"/>
              </a:rPr>
              <a:t>KPI &amp;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0515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成效指標與後續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194560"/>
            <a:ext cx="2468880" cy="118872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194560"/>
            <a:ext cx="54864" cy="118872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591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9A9AA0"/>
                </a:solidFill>
                <a:latin typeface="Microsoft JhengHei"/>
                <a:ea typeface="Microsoft JhengHei"/>
              </a:rPr>
              <a:t>英雄商品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651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M5 銷售目標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3580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FF5A36"/>
                </a:solidFill>
                <a:latin typeface="Microsoft JhengHei"/>
                <a:ea typeface="Microsoft JhengHei"/>
              </a:rPr>
              <a:t>▲ 衝刺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194560"/>
            <a:ext cx="2468880" cy="118872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3008" y="2194560"/>
            <a:ext cx="54864" cy="118872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3591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9A9AA0"/>
                </a:solidFill>
                <a:latin typeface="Microsoft JhengHei"/>
                <a:ea typeface="Microsoft JhengHei"/>
              </a:rPr>
              <a:t>活動客單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651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提升連帶率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303580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0A84FF"/>
                </a:solidFill>
                <a:latin typeface="Microsoft JhengHei"/>
                <a:ea typeface="Microsoft JhengHei"/>
              </a:rPr>
              <a:t>↑ 滿千贈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3566160"/>
            <a:ext cx="2468880" cy="118872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566160"/>
            <a:ext cx="54864" cy="118872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7307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9A9AA0"/>
                </a:solidFill>
                <a:latin typeface="Microsoft JhengHei"/>
                <a:ea typeface="Microsoft JhengHei"/>
              </a:rPr>
              <a:t>名單蒐集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0233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第一方名單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40740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FF5A36"/>
                </a:solidFill>
                <a:latin typeface="Microsoft JhengHei"/>
                <a:ea typeface="Microsoft JhengHei"/>
              </a:rPr>
              <a:t>＋ 會員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93008" y="3566160"/>
            <a:ext cx="2468880" cy="118872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93008" y="3566160"/>
            <a:ext cx="54864" cy="118872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0752" y="37307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9A9AA0"/>
                </a:solidFill>
                <a:latin typeface="Microsoft JhengHei"/>
                <a:ea typeface="Microsoft JhengHei"/>
              </a:rPr>
              <a:t>品牌聲量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0752" y="40233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社群曝光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440740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0A84FF"/>
                </a:solidFill>
                <a:latin typeface="Microsoft JhengHei"/>
                <a:ea typeface="Microsoft JhengHei"/>
              </a:rPr>
              <a:t>＃ 打卡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9A9AA0"/>
                </a:solidFill>
                <a:latin typeface="Microsoft JhengHei"/>
                <a:ea typeface="Microsoft JhengHei"/>
              </a:rPr>
              <a:t>※ 具體數值目標待三方會議確認後填入。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1188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下一步</a:t>
            </a:r>
          </a:p>
        </p:txBody>
      </p:sp>
      <p:sp>
        <p:nvSpPr>
          <p:cNvPr id="31" name="Oval 30"/>
          <p:cNvSpPr/>
          <p:nvPr/>
        </p:nvSpPr>
        <p:spPr>
          <a:xfrm>
            <a:off x="9098280" y="1828800"/>
            <a:ext cx="109728" cy="10972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17373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F5F5F7"/>
                </a:solidFill>
                <a:latin typeface="Microsoft JhengHei"/>
                <a:ea typeface="Microsoft JhengHei"/>
              </a:rPr>
              <a:t>確認優惠與贈品數量</a:t>
            </a:r>
          </a:p>
        </p:txBody>
      </p:sp>
      <p:sp>
        <p:nvSpPr>
          <p:cNvPr id="33" name="Oval 32"/>
          <p:cNvSpPr/>
          <p:nvPr/>
        </p:nvSpPr>
        <p:spPr>
          <a:xfrm>
            <a:off x="9098280" y="2304288"/>
            <a:ext cx="109728" cy="10972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2212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F5F5F7"/>
                </a:solidFill>
                <a:latin typeface="Microsoft JhengHei"/>
                <a:ea typeface="Microsoft JhengHei"/>
              </a:rPr>
              <a:t>主視覺與物料定稿</a:t>
            </a:r>
          </a:p>
        </p:txBody>
      </p:sp>
      <p:sp>
        <p:nvSpPr>
          <p:cNvPr id="35" name="Oval 34"/>
          <p:cNvSpPr/>
          <p:nvPr/>
        </p:nvSpPr>
        <p:spPr>
          <a:xfrm>
            <a:off x="9098280" y="2779776"/>
            <a:ext cx="109728" cy="10972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268833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F5F5F7"/>
                </a:solidFill>
                <a:latin typeface="Microsoft JhengHei"/>
                <a:ea typeface="Microsoft JhengHei"/>
              </a:rPr>
              <a:t>排定現場人力與訓練</a:t>
            </a:r>
          </a:p>
        </p:txBody>
      </p:sp>
      <p:sp>
        <p:nvSpPr>
          <p:cNvPr id="37" name="Oval 36"/>
          <p:cNvSpPr/>
          <p:nvPr/>
        </p:nvSpPr>
        <p:spPr>
          <a:xfrm>
            <a:off x="9098280" y="3255264"/>
            <a:ext cx="109728" cy="10972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316382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F5F5F7"/>
                </a:solidFill>
                <a:latin typeface="Microsoft JhengHei"/>
                <a:ea typeface="Microsoft JhengHei"/>
              </a:rPr>
              <a:t>啟動社群預熱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3840480"/>
            <a:ext cx="2697480" cy="12801"/>
          </a:xfrm>
          <a:prstGeom prst="rect">
            <a:avLst/>
          </a:prstGeom>
          <a:solidFill>
            <a:srgbClr val="444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4069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</a:rPr>
              <a:t>聯絡窗口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4805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1">
                <a:solidFill>
                  <a:srgbClr val="F5F5F7"/>
                </a:solidFill>
                <a:latin typeface="Microsoft JhengHei"/>
                <a:ea typeface="Microsoft JhengHei"/>
              </a:rPr>
              <a:t>LYCANDER GROUP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50" b="0">
                <a:solidFill>
                  <a:srgbClr val="9A9AA0"/>
                </a:solidFill>
                <a:latin typeface="Microsoft JhengHei"/>
                <a:ea typeface="Microsoft JhengHei"/>
              </a:rPr>
              <a:t>service@lycander.tw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0">
                <a:solidFill>
                  <a:srgbClr val="9A9AA0"/>
                </a:solidFill>
                <a:latin typeface="Microsoft JhengHei"/>
                <a:ea typeface="Microsoft JhengHei"/>
              </a:rPr>
              <a:t>（行銷協作專案窗口）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9A9AA0"/>
                </a:solidFill>
                <a:latin typeface="Microsoft JhengHei"/>
                <a:ea typeface="Microsoft JhengHei"/>
              </a:rPr>
              <a:t>德誼 Roadshow　Wokyis × LYCANDER　|　2026 夏季快閃巡迴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