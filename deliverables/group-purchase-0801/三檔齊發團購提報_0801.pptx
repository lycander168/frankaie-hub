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74519"/>
            <a:ext cx="146304" cy="91440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128" y="1874519"/>
            <a:ext cx="146304" cy="91440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25296" y="1874519"/>
            <a:ext cx="146304" cy="914400"/>
          </a:xfrm>
          <a:prstGeom prst="rect">
            <a:avLst/>
          </a:prstGeom>
          <a:solidFill>
            <a:srgbClr val="1F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0A8A8"/>
                </a:solidFill>
                <a:latin typeface="Microsoft JhengHei"/>
                <a:ea typeface="Microsoft JhengHei"/>
                <a:cs typeface="Microsoft JhengHei"/>
              </a:rPr>
              <a:t>2026 夏季團購檔期提報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三檔齊發 ‧ 團購檔期提報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1">
                <a:solidFill>
                  <a:srgbClr val="C8D6E5"/>
                </a:solidFill>
                <a:latin typeface="Microsoft JhengHei"/>
                <a:ea typeface="Microsoft JhengHei"/>
                <a:cs typeface="Microsoft JhengHei"/>
              </a:rPr>
              <a:t>Wokyis × LYCANDER × Sharge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4892040"/>
            <a:ext cx="4937760" cy="841248"/>
          </a:xfrm>
          <a:prstGeom prst="round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029200"/>
            <a:ext cx="45720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FB4C9"/>
                </a:solidFill>
                <a:latin typeface="Microsoft JhengHei"/>
                <a:ea typeface="Microsoft JhengHei"/>
                <a:cs typeface="Microsoft JhengHei"/>
              </a:rPr>
              <a:t>上檔日期　</a:t>
            </a:r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8 / 1 三檔同步上檔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FB4C9"/>
                </a:solidFill>
                <a:latin typeface="Microsoft JhengHei"/>
                <a:ea typeface="Microsoft JhengHei"/>
                <a:cs typeface="Microsoft JhengHei"/>
              </a:rPr>
              <a:t>提報對象　</a:t>
            </a: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團購業者 ama shop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FB4C9"/>
                </a:solidFill>
                <a:latin typeface="Microsoft JhengHei"/>
                <a:ea typeface="Microsoft JhengHei"/>
                <a:cs typeface="Microsoft JhengHei"/>
              </a:rPr>
              <a:t>LYCANDER 提供　｜　service@lycander.tw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00A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0896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A8A8"/>
                </a:solidFill>
                <a:latin typeface="Microsoft JhengHei"/>
                <a:ea typeface="Microsoft JhengHei"/>
                <a:cs typeface="Microsoft JhengHei"/>
              </a:rPr>
              <a:t>OVERVIEW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三檔齊發總覽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85855" cy="10972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B7B"/>
                </a:solidFill>
                <a:latin typeface="Microsoft JhengHei"/>
                <a:ea typeface="Microsoft JhengHei"/>
                <a:cs typeface="Microsoft JhengHei"/>
              </a:rPr>
              <a:t>三檔嘖嘖募資人氣商品，8/1 同步上檔，一次提供團購主完整 3C 選品組合。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34290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3429000" cy="146304"/>
          </a:xfrm>
          <a:prstGeom prst="round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2395728"/>
            <a:ext cx="288036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EE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395728"/>
            <a:ext cx="288036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6B7B"/>
                </a:solidFill>
                <a:latin typeface="Microsoft JhengHei"/>
                <a:ea typeface="Microsoft JhengHei"/>
                <a:cs typeface="Microsoft JhengHei"/>
              </a:rPr>
              <a:t>產品圖 / KV 置入處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86200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E8743B"/>
                </a:solidFill>
                <a:latin typeface="Microsoft JhengHei"/>
                <a:ea typeface="Microsoft JhengHei"/>
                <a:cs typeface="Microsoft JhengHei"/>
              </a:rPr>
              <a:t>Wokyis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51376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Wokyis M5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81728"/>
            <a:ext cx="2880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Microsoft JhengHei"/>
                <a:ea typeface="Microsoft JhengHei"/>
                <a:cs typeface="Microsoft JhengHei"/>
              </a:rPr>
              <a:t>13 合 1 迷你螢幕擴充座 · 復古外觀，現代武裝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285232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8743B"/>
                </a:solidFill>
                <a:latin typeface="Microsoft JhengHei"/>
                <a:ea typeface="Microsoft JhengHei"/>
                <a:cs typeface="Microsoft JhengHei"/>
              </a:rPr>
              <a:t>嘖嘖募資專案 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6552" y="2011680"/>
            <a:ext cx="34290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16552" y="2011680"/>
            <a:ext cx="3429000" cy="146304"/>
          </a:xfrm>
          <a:prstGeom prst="round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90872" y="2395728"/>
            <a:ext cx="288036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EE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90872" y="2395728"/>
            <a:ext cx="288036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6B7B"/>
                </a:solidFill>
                <a:latin typeface="Microsoft JhengHei"/>
                <a:ea typeface="Microsoft JhengHei"/>
                <a:cs typeface="Microsoft JhengHei"/>
              </a:rPr>
              <a:t>產品圖 / KV 置入處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0872" y="3886200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7C5CFF"/>
                </a:solidFill>
                <a:latin typeface="Microsoft JhengHei"/>
                <a:ea typeface="Microsoft JhengHei"/>
                <a:cs typeface="Microsoft JhengHei"/>
              </a:rPr>
              <a:t>LYCANDER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4151376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LUNA Mag 小露娜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0872" y="4681728"/>
            <a:ext cx="2880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Microsoft JhengHei"/>
                <a:ea typeface="Microsoft JhengHei"/>
                <a:cs typeface="Microsoft JhengHei"/>
              </a:rPr>
              <a:t>口袋型無線充電站 · 一秒展開電就到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90872" y="5285232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7C5CFF"/>
                </a:solidFill>
                <a:latin typeface="Microsoft JhengHei"/>
                <a:ea typeface="Microsoft JhengHei"/>
                <a:cs typeface="Microsoft JhengHei"/>
              </a:rPr>
              <a:t>嘖嘖募資專案 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01584" y="2011680"/>
            <a:ext cx="34290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01584" y="2011680"/>
            <a:ext cx="3429000" cy="146304"/>
          </a:xfrm>
          <a:prstGeom prst="roundRect">
            <a:avLst/>
          </a:prstGeom>
          <a:solidFill>
            <a:srgbClr val="1F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75904" y="2395728"/>
            <a:ext cx="288036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EE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2395728"/>
            <a:ext cx="288036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6B7B"/>
                </a:solidFill>
                <a:latin typeface="Microsoft JhengHei"/>
                <a:ea typeface="Microsoft JhengHei"/>
                <a:cs typeface="Microsoft JhengHei"/>
              </a:rPr>
              <a:t>產品圖 / KV 置入處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75904" y="3886200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A2FF"/>
                </a:solidFill>
                <a:latin typeface="Microsoft JhengHei"/>
                <a:ea typeface="Microsoft JhengHei"/>
                <a:cs typeface="Microsoft JhengHei"/>
              </a:rPr>
              <a:t>Sharge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5904" y="4151376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Sharge Disk Pro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5904" y="4681728"/>
            <a:ext cx="2880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Microsoft JhengHei"/>
                <a:ea typeface="Microsoft JhengHei"/>
                <a:cs typeface="Microsoft JhengHei"/>
              </a:rPr>
              <a:t>全球首款主動散熱 PSSD × 多埠 Hub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5904" y="5285232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FA2FF"/>
                </a:solidFill>
                <a:latin typeface="Microsoft JhengHei"/>
                <a:ea typeface="Microsoft JhengHei"/>
                <a:cs typeface="Microsoft JhengHei"/>
              </a:rPr>
              <a:t>嘖嘖募資專案 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B7B"/>
                </a:solidFill>
                <a:latin typeface="Microsoft JhengHei"/>
                <a:ea typeface="Microsoft JhengHei"/>
                <a:cs typeface="Microsoft JhengHei"/>
              </a:rPr>
              <a:t>LYCANDER × Wokyis × Sharge ｜ 8/1 三檔齊發團購提報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11535" y="6400800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B7B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00A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0896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A8A8"/>
                </a:solidFill>
                <a:latin typeface="Microsoft JhengHei"/>
                <a:ea typeface="Microsoft JhengHei"/>
                <a:cs typeface="Microsoft JhengHei"/>
              </a:rPr>
              <a:t>PROPOSAL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提案概要：為何三檔齊發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85855" cy="10972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57800" cy="1874519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39112"/>
            <a:ext cx="91440" cy="1362455"/>
          </a:xfrm>
          <a:prstGeom prst="rect">
            <a:avLst/>
          </a:prstGeom>
          <a:solidFill>
            <a:srgbClr val="00A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39112"/>
            <a:ext cx="4709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一次到位的 3C 選品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569464"/>
            <a:ext cx="466344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A2332"/>
                </a:solidFill>
                <a:latin typeface="Microsoft JhengHei"/>
                <a:ea typeface="Microsoft JhengHei"/>
                <a:cs typeface="Microsoft JhengHei"/>
              </a:rPr>
              <a:t>擴充座 × 無線充電 × 行動儲存，覆蓋 Mac／行動辦公族的桌面與外出需求，提高客單與連帶銷售。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783080"/>
            <a:ext cx="5257800" cy="1874519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2039112"/>
            <a:ext cx="91440" cy="1362455"/>
          </a:xfrm>
          <a:prstGeom prst="rect">
            <a:avLst/>
          </a:prstGeom>
          <a:solidFill>
            <a:srgbClr val="00A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399" y="2039112"/>
            <a:ext cx="4709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募資人氣背書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399" y="2569464"/>
            <a:ext cx="466344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A2332"/>
                </a:solidFill>
                <a:latin typeface="Microsoft JhengHei"/>
                <a:ea typeface="Microsoft JhengHei"/>
                <a:cs typeface="Microsoft JhengHei"/>
              </a:rPr>
              <a:t>三檔皆為嘖嘖募資專案，具話題與聲量基礎，導購素材完整、轉化信任度高。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5257800" cy="1874519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187952"/>
            <a:ext cx="91440" cy="1362455"/>
          </a:xfrm>
          <a:prstGeom prst="rect">
            <a:avLst/>
          </a:prstGeom>
          <a:solidFill>
            <a:srgbClr val="00A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187952"/>
            <a:ext cx="4709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目標客群高度重疊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718304"/>
            <a:ext cx="466344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A2332"/>
                </a:solidFill>
                <a:latin typeface="Microsoft JhengHei"/>
                <a:ea typeface="Microsoft JhengHei"/>
                <a:cs typeface="Microsoft JhengHei"/>
              </a:rPr>
              <a:t>Apple／Mac 生態、科技嘗鮮族、行動辦公與差旅族群；一次團購觸及同一群高消費力受眾。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931920"/>
            <a:ext cx="5257800" cy="1874519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4187952"/>
            <a:ext cx="91440" cy="1362455"/>
          </a:xfrm>
          <a:prstGeom prst="rect">
            <a:avLst/>
          </a:prstGeom>
          <a:solidFill>
            <a:srgbClr val="00A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399" y="4187952"/>
            <a:ext cx="4709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齊發檔期綜效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399" y="4718304"/>
            <a:ext cx="466344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A2332"/>
                </a:solidFill>
                <a:latin typeface="Microsoft JhengHei"/>
                <a:ea typeface="Microsoft JhengHei"/>
                <a:cs typeface="Microsoft JhengHei"/>
              </a:rPr>
              <a:t>8/1 三檔同步上檔，可組合加購、滿額優惠，拉高團單金額與開團聲量。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A8A8"/>
                </a:solidFill>
                <a:latin typeface="Microsoft JhengHei"/>
                <a:ea typeface="Microsoft JhengHei"/>
                <a:cs typeface="Microsoft JhengHei"/>
              </a:rPr>
              <a:t>團購主可獲支援：</a:t>
            </a:r>
            <a:r>
              <a:rPr sz="1200" b="0">
                <a:solidFill>
                  <a:srgbClr val="1A2332"/>
                </a:solidFill>
                <a:latin typeface="Microsoft JhengHei"/>
                <a:ea typeface="Microsoft JhengHei"/>
                <a:cs typeface="Microsoft JhengHei"/>
              </a:rPr>
              <a:t>產品圖／KV／規格表／賣點文案／QA 懶人包／開團素材包（依檔期提供）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B7B"/>
                </a:solidFill>
                <a:latin typeface="Microsoft JhengHei"/>
                <a:ea typeface="Microsoft JhengHei"/>
                <a:cs typeface="Microsoft JhengHei"/>
              </a:rPr>
              <a:t>LYCANDER × Wokyis × Sharge ｜ 8/1 三檔齊發團購提報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11535" y="6400800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B7B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0896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8743B"/>
                </a:solidFill>
                <a:latin typeface="Microsoft JhengHei"/>
                <a:ea typeface="Microsoft JhengHei"/>
                <a:cs typeface="Microsoft JhengHei"/>
              </a:rPr>
              <a:t>WOKYIS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Wokyis M5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85855" cy="10972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4297680" cy="402336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EE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4297680" cy="4023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B6B7B"/>
                </a:solidFill>
                <a:latin typeface="Microsoft JhengHei"/>
                <a:ea typeface="Microsoft JhengHei"/>
                <a:cs typeface="Microsoft JhengHei"/>
              </a:rPr>
              <a:t>產品圖 / KV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B7B"/>
                </a:solidFill>
                <a:latin typeface="Microsoft JhengHei"/>
                <a:ea typeface="Microsoft JhengHei"/>
                <a:cs typeface="Microsoft JhengHei"/>
              </a:rPr>
              <a:t>置入處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1554480"/>
            <a:ext cx="6126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E8743B"/>
                </a:solidFill>
                <a:latin typeface="Microsoft JhengHei"/>
                <a:ea typeface="Microsoft JhengHei"/>
                <a:cs typeface="Microsoft JhengHei"/>
              </a:rPr>
              <a:t>13 合 1 迷你螢幕擴充座 · 復古外觀，現代武裝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2103120"/>
            <a:ext cx="6126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A2332"/>
                </a:solidFill>
                <a:latin typeface="Microsoft JhengHei"/>
                <a:ea typeface="Microsoft JhengHei"/>
                <a:cs typeface="Microsoft JhengHei"/>
              </a:rPr>
              <a:t>專為 Mac mini 打造的 13 合 1 迷你螢幕擴充座，復古外觀內藏現代高速規格；同時相容 MacBook Air / Pro 與 Windows 筆電、桌機，桌面一站到位。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49240" y="3063240"/>
            <a:ext cx="1144828" cy="310896"/>
          </a:xfrm>
          <a:prstGeom prst="roundRect">
            <a:avLst/>
          </a:prstGeom>
          <a:noFill/>
          <a:ln w="15875">
            <a:solidFill>
              <a:srgbClr val="E87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3063240"/>
            <a:ext cx="11448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8743B"/>
                </a:solidFill>
                <a:latin typeface="Microsoft JhengHei"/>
                <a:ea typeface="Microsoft JhengHei"/>
                <a:cs typeface="Microsoft JhengHei"/>
              </a:rPr>
              <a:t>13 合 1 擴充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58660" y="3063240"/>
            <a:ext cx="651052" cy="310896"/>
          </a:xfrm>
          <a:prstGeom prst="roundRect">
            <a:avLst/>
          </a:prstGeom>
          <a:noFill/>
          <a:ln w="15875">
            <a:solidFill>
              <a:srgbClr val="E87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58660" y="3063240"/>
            <a:ext cx="6510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8743B"/>
                </a:solidFill>
                <a:latin typeface="Microsoft JhengHei"/>
                <a:ea typeface="Microsoft JhengHei"/>
                <a:cs typeface="Microsoft JhengHei"/>
              </a:rPr>
              <a:t>復古造型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4305" y="3063240"/>
            <a:ext cx="1342339" cy="310896"/>
          </a:xfrm>
          <a:prstGeom prst="roundRect">
            <a:avLst/>
          </a:prstGeom>
          <a:noFill/>
          <a:ln w="15875">
            <a:solidFill>
              <a:srgbClr val="E87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74305" y="3063240"/>
            <a:ext cx="134233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8743B"/>
                </a:solidFill>
                <a:latin typeface="Microsoft JhengHei"/>
                <a:ea typeface="Microsoft JhengHei"/>
                <a:cs typeface="Microsoft JhengHei"/>
              </a:rPr>
              <a:t>雙版本 10G/80G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1236" y="3063240"/>
            <a:ext cx="651052" cy="310896"/>
          </a:xfrm>
          <a:prstGeom prst="roundRect">
            <a:avLst/>
          </a:prstGeom>
          <a:noFill/>
          <a:ln w="15875">
            <a:solidFill>
              <a:srgbClr val="E87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81236" y="3063240"/>
            <a:ext cx="6510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8743B"/>
                </a:solidFill>
                <a:latin typeface="Microsoft JhengHei"/>
                <a:ea typeface="Microsoft JhengHei"/>
                <a:cs typeface="Microsoft JhengHei"/>
              </a:rPr>
              <a:t>內建螢幕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3611880"/>
            <a:ext cx="6126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核心賣點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3977639"/>
            <a:ext cx="62179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E8743B"/>
                </a:solidFill>
                <a:latin typeface="Microsoft JhengHei"/>
                <a:ea typeface="Microsoft JhengHei"/>
                <a:cs typeface="Microsoft JhengHei"/>
              </a:rPr>
              <a:t>▸  </a:t>
            </a:r>
            <a:r>
              <a:rPr sz="1200" b="0">
                <a:solidFill>
                  <a:srgbClr val="1A2332"/>
                </a:solidFill>
                <a:latin typeface="Microsoft JhengHei"/>
                <a:ea typeface="Microsoft JhengHei"/>
                <a:cs typeface="Microsoft JhengHei"/>
              </a:rPr>
              <a:t>13 合 1 多埠擴充，桌面一線整合到位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E8743B"/>
                </a:solidFill>
                <a:latin typeface="Microsoft JhengHei"/>
                <a:ea typeface="Microsoft JhengHei"/>
                <a:cs typeface="Microsoft JhengHei"/>
              </a:rPr>
              <a:t>▸  </a:t>
            </a:r>
            <a:r>
              <a:rPr sz="1200" b="0">
                <a:solidFill>
                  <a:srgbClr val="1A2332"/>
                </a:solidFill>
                <a:latin typeface="Microsoft JhengHei"/>
                <a:ea typeface="Microsoft JhengHei"/>
                <a:cs typeface="Microsoft JhengHei"/>
              </a:rPr>
              <a:t>復古造型 × 現代效能，兼具桌面質感與實用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E8743B"/>
                </a:solidFill>
                <a:latin typeface="Microsoft JhengHei"/>
                <a:ea typeface="Microsoft JhengHei"/>
                <a:cs typeface="Microsoft JhengHei"/>
              </a:rPr>
              <a:t>▸  </a:t>
            </a:r>
            <a:r>
              <a:rPr sz="1200" b="0">
                <a:solidFill>
                  <a:srgbClr val="1A2332"/>
                </a:solidFill>
                <a:latin typeface="Microsoft JhengHei"/>
                <a:ea typeface="Microsoft JhengHei"/>
                <a:cs typeface="Microsoft JhengHei"/>
              </a:rPr>
              <a:t>雙版本：標準版 10Gbps／專業版 80Gbps Thunderbolt 5 Dock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E8743B"/>
                </a:solidFill>
                <a:latin typeface="Microsoft JhengHei"/>
                <a:ea typeface="Microsoft JhengHei"/>
                <a:cs typeface="Microsoft JhengHei"/>
              </a:rPr>
              <a:t>▸  </a:t>
            </a:r>
            <a:r>
              <a:rPr sz="1200" b="0">
                <a:solidFill>
                  <a:srgbClr val="1A2332"/>
                </a:solidFill>
                <a:latin typeface="Microsoft JhengHei"/>
                <a:ea typeface="Microsoft JhengHei"/>
                <a:cs typeface="Microsoft JhengHei"/>
              </a:rPr>
              <a:t>內建螢幕顯示連接狀態，資訊一目了然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E8743B"/>
                </a:solidFill>
                <a:latin typeface="Microsoft JhengHei"/>
                <a:ea typeface="Microsoft JhengHei"/>
                <a:cs typeface="Microsoft JhengHei"/>
              </a:rPr>
              <a:t>▸  </a:t>
            </a:r>
            <a:r>
              <a:rPr sz="1200" b="0">
                <a:solidFill>
                  <a:srgbClr val="1A2332"/>
                </a:solidFill>
                <a:latin typeface="Microsoft JhengHei"/>
                <a:ea typeface="Microsoft JhengHei"/>
                <a:cs typeface="Microsoft JhengHei"/>
              </a:rPr>
              <a:t>完整配件：雙長度 USB-C 線、散熱墊、螺絲起子、快速指南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B7B"/>
                </a:solidFill>
                <a:latin typeface="Microsoft JhengHei"/>
                <a:ea typeface="Microsoft JhengHei"/>
                <a:cs typeface="Microsoft JhengHei"/>
              </a:rPr>
              <a:t>LYCANDER × Wokyis × Sharge ｜ 8/1 三檔齊發團購提報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11535" y="6400800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B7B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0896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8743B"/>
                </a:solidFill>
                <a:latin typeface="Microsoft JhengHei"/>
                <a:ea typeface="Microsoft JhengHei"/>
                <a:cs typeface="Microsoft JhengHei"/>
              </a:rPr>
              <a:t>WOKYIS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Wokyis M5　規格與團購方案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85855" cy="10972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產品規格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1554480" cy="566928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920240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版本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920240"/>
            <a:ext cx="374903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14016" y="1920240"/>
            <a:ext cx="3520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2"/>
                </a:solidFill>
                <a:latin typeface="Microsoft JhengHei"/>
                <a:ea typeface="Microsoft JhengHei"/>
                <a:cs typeface="Microsoft JhengHei"/>
              </a:rPr>
              <a:t>標準版 10Gbps／專業版 80Gbps（Thunderbolt 5 Dock）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487168"/>
            <a:ext cx="1554480" cy="566928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487168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連接埠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2487168"/>
            <a:ext cx="374903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14016" y="2487168"/>
            <a:ext cx="3520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2"/>
                </a:solidFill>
                <a:latin typeface="Microsoft JhengHei"/>
                <a:ea typeface="Microsoft JhengHei"/>
                <a:cs typeface="Microsoft JhengHei"/>
              </a:rPr>
              <a:t>13 合 1（HDMI／USB-A／USB-C／讀卡機 等，依版本）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054096"/>
            <a:ext cx="1554480" cy="566928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054096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相容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3054096"/>
            <a:ext cx="374903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14016" y="3054096"/>
            <a:ext cx="3520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2"/>
                </a:solidFill>
                <a:latin typeface="Microsoft JhengHei"/>
                <a:ea typeface="Microsoft JhengHei"/>
                <a:cs typeface="Microsoft JhengHei"/>
              </a:rPr>
              <a:t>Mac mini、MacBook Air / Pro、Windows 筆電 / 桌機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621024"/>
            <a:ext cx="1554480" cy="566928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3621024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隨附配件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3621024"/>
            <a:ext cx="374903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14016" y="3621024"/>
            <a:ext cx="3520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2"/>
                </a:solidFill>
                <a:latin typeface="Microsoft JhengHei"/>
                <a:ea typeface="Microsoft JhengHei"/>
                <a:cs typeface="Microsoft JhengHei"/>
              </a:rPr>
              <a:t>18mm &amp; 100mm USB-C 對 USB-C 線、供電線、散熱墊、螺絲起子、快速指南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187952"/>
            <a:ext cx="1554480" cy="566928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4187952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適用情境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4187952"/>
            <a:ext cx="374903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14016" y="4187952"/>
            <a:ext cx="3520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2"/>
                </a:solidFill>
                <a:latin typeface="Microsoft JhengHei"/>
                <a:ea typeface="Microsoft JhengHei"/>
                <a:cs typeface="Microsoft JhengHei"/>
              </a:rPr>
              <a:t>桌面整線、外接高速 SSD、影音剪輯／文書處理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150876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8743B"/>
                </a:solidFill>
                <a:latin typeface="Microsoft JhengHei"/>
                <a:ea typeface="Microsoft JhengHei"/>
                <a:cs typeface="Microsoft JhengHei"/>
              </a:rPr>
              <a:t>團購方案（待業務填寫）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920240"/>
            <a:ext cx="2377440" cy="566928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1920240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建議售價 (NT$)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32520" y="1920240"/>
            <a:ext cx="2743200" cy="566928"/>
          </a:xfrm>
          <a:prstGeom prst="rect">
            <a:avLst/>
          </a:prstGeom>
          <a:solidFill>
            <a:srgbClr val="FFF3CD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0" y="1920240"/>
            <a:ext cx="2560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A7300"/>
                </a:solidFill>
                <a:latin typeface="Microsoft JhengHei"/>
                <a:ea typeface="Microsoft JhengHei"/>
                <a:cs typeface="Microsoft JhengHei"/>
              </a:rPr>
              <a:t>待填 TBD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487168"/>
            <a:ext cx="2377440" cy="566928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2487168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募資價 (NT$)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32520" y="2487168"/>
            <a:ext cx="2743200" cy="566928"/>
          </a:xfrm>
          <a:prstGeom prst="rect">
            <a:avLst/>
          </a:prstGeom>
          <a:solidFill>
            <a:srgbClr val="FFF3CD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0" y="2487168"/>
            <a:ext cx="2560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A7300"/>
                </a:solidFill>
                <a:latin typeface="Microsoft JhengHei"/>
                <a:ea typeface="Microsoft JhengHei"/>
                <a:cs typeface="Microsoft JhengHei"/>
              </a:rPr>
              <a:t>待填 TBD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3054096"/>
            <a:ext cx="2377440" cy="566928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054096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團購價 (NT$)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32520" y="3054096"/>
            <a:ext cx="2743200" cy="566928"/>
          </a:xfrm>
          <a:prstGeom prst="rect">
            <a:avLst/>
          </a:prstGeom>
          <a:solidFill>
            <a:srgbClr val="FFF3CD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69680" y="3054096"/>
            <a:ext cx="2560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A7300"/>
                </a:solidFill>
                <a:latin typeface="Microsoft JhengHei"/>
                <a:ea typeface="Microsoft JhengHei"/>
                <a:cs typeface="Microsoft JhengHei"/>
              </a:rPr>
              <a:t>待填 TBD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621024"/>
            <a:ext cx="2377440" cy="566928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3621024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拆帳 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32520" y="3621024"/>
            <a:ext cx="2743200" cy="566928"/>
          </a:xfrm>
          <a:prstGeom prst="rect">
            <a:avLst/>
          </a:prstGeom>
          <a:solidFill>
            <a:srgbClr val="FFF3CD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69680" y="3621024"/>
            <a:ext cx="2560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A7300"/>
                </a:solidFill>
                <a:latin typeface="Microsoft JhengHei"/>
                <a:ea typeface="Microsoft JhengHei"/>
                <a:cs typeface="Microsoft JhengHei"/>
              </a:rPr>
              <a:t>待填 TBD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5080" y="4187952"/>
            <a:ext cx="2377440" cy="566928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4187952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MOQ 起訂量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32520" y="4187952"/>
            <a:ext cx="2743200" cy="566928"/>
          </a:xfrm>
          <a:prstGeom prst="rect">
            <a:avLst/>
          </a:prstGeom>
          <a:solidFill>
            <a:srgbClr val="FFF3CD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69680" y="4187952"/>
            <a:ext cx="2560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A7300"/>
                </a:solidFill>
                <a:latin typeface="Microsoft JhengHei"/>
                <a:ea typeface="Microsoft JhengHei"/>
                <a:cs typeface="Microsoft JhengHei"/>
              </a:rPr>
              <a:t>待填 TBD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55080" y="4754880"/>
            <a:ext cx="2377440" cy="566928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0" y="4754880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出貨日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732520" y="4754880"/>
            <a:ext cx="2743200" cy="566928"/>
          </a:xfrm>
          <a:prstGeom prst="rect">
            <a:avLst/>
          </a:prstGeom>
          <a:solidFill>
            <a:srgbClr val="FFF3CD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869680" y="4754880"/>
            <a:ext cx="2560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A7300"/>
                </a:solidFill>
                <a:latin typeface="Microsoft JhengHei"/>
                <a:ea typeface="Microsoft JhengHei"/>
                <a:cs typeface="Microsoft JhengHei"/>
              </a:rPr>
              <a:t>待填 TBD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55080" y="5367528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B7B"/>
                </a:solidFill>
                <a:latin typeface="Microsoft JhengHei"/>
                <a:ea typeface="Microsoft JhengHei"/>
                <a:cs typeface="Microsoft JhengHei"/>
              </a:rPr>
              <a:t>嘖嘖募資專案：https://www.zeczec.com/projects/wokyis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B7B"/>
                </a:solidFill>
                <a:latin typeface="Microsoft JhengHei"/>
                <a:ea typeface="Microsoft JhengHei"/>
                <a:cs typeface="Microsoft JhengHei"/>
              </a:rPr>
              <a:t>LYCANDER × Wokyis × Sharge ｜ 8/1 三檔齊發團購提報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11535" y="6400800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B7B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0896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7C5CFF"/>
                </a:solidFill>
                <a:latin typeface="Microsoft JhengHei"/>
                <a:ea typeface="Microsoft JhengHei"/>
                <a:cs typeface="Microsoft JhengHei"/>
              </a:rPr>
              <a:t>LYCANDER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LUNA Mag 小露娜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85855" cy="10972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4297680" cy="402336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EE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4297680" cy="4023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B6B7B"/>
                </a:solidFill>
                <a:latin typeface="Microsoft JhengHei"/>
                <a:ea typeface="Microsoft JhengHei"/>
                <a:cs typeface="Microsoft JhengHei"/>
              </a:rPr>
              <a:t>產品圖 / KV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B7B"/>
                </a:solidFill>
                <a:latin typeface="Microsoft JhengHei"/>
                <a:ea typeface="Microsoft JhengHei"/>
                <a:cs typeface="Microsoft JhengHei"/>
              </a:rPr>
              <a:t>置入處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1554480"/>
            <a:ext cx="6126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7C5CFF"/>
                </a:solidFill>
                <a:latin typeface="Microsoft JhengHei"/>
                <a:ea typeface="Microsoft JhengHei"/>
                <a:cs typeface="Microsoft JhengHei"/>
              </a:rPr>
              <a:t>口袋型無線充電站 · 一秒展開電就到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2103120"/>
            <a:ext cx="6126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A2332"/>
                </a:solidFill>
                <a:latin typeface="Microsoft JhengHei"/>
                <a:ea typeface="Microsoft JhengHei"/>
                <a:cs typeface="Microsoft JhengHei"/>
              </a:rPr>
              <a:t>口袋型 3-in-1 無線充電站，一秒展開即可同時為手機、耳機、手錶充電；採次世代 Qi2.2 標準與 MagSafe 磁吸對位，外出隨身的充電解決方案。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49240" y="3063240"/>
            <a:ext cx="848563" cy="310896"/>
          </a:xfrm>
          <a:prstGeom prst="roundRect">
            <a:avLst/>
          </a:prstGeom>
          <a:noFill/>
          <a:ln w="15875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3063240"/>
            <a:ext cx="84856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7C5CFF"/>
                </a:solidFill>
                <a:latin typeface="Microsoft JhengHei"/>
                <a:ea typeface="Microsoft JhengHei"/>
                <a:cs typeface="Microsoft JhengHei"/>
              </a:rPr>
              <a:t>3-in-1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62395" y="3063240"/>
            <a:ext cx="749808" cy="310896"/>
          </a:xfrm>
          <a:prstGeom prst="roundRect">
            <a:avLst/>
          </a:prstGeom>
          <a:noFill/>
          <a:ln w="15875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2395" y="3063240"/>
            <a:ext cx="74980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7C5CFF"/>
                </a:solidFill>
                <a:latin typeface="Microsoft JhengHei"/>
                <a:ea typeface="Microsoft JhengHei"/>
                <a:cs typeface="Microsoft JhengHei"/>
              </a:rPr>
              <a:t>Qi2.2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76795" y="3063240"/>
            <a:ext cx="947318" cy="310896"/>
          </a:xfrm>
          <a:prstGeom prst="roundRect">
            <a:avLst/>
          </a:prstGeom>
          <a:noFill/>
          <a:ln w="15875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76795" y="3063240"/>
            <a:ext cx="94731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7C5CFF"/>
                </a:solidFill>
                <a:latin typeface="Microsoft JhengHei"/>
                <a:ea typeface="Microsoft JhengHei"/>
                <a:cs typeface="Microsoft JhengHei"/>
              </a:rPr>
              <a:t>MagSafe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88705" y="3063240"/>
            <a:ext cx="552297" cy="310896"/>
          </a:xfrm>
          <a:prstGeom prst="roundRect">
            <a:avLst/>
          </a:prstGeom>
          <a:noFill/>
          <a:ln w="15875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8705" y="3063240"/>
            <a:ext cx="55229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7C5CFF"/>
                </a:solidFill>
                <a:latin typeface="Microsoft JhengHei"/>
                <a:ea typeface="Microsoft JhengHei"/>
                <a:cs typeface="Microsoft JhengHei"/>
              </a:rPr>
              <a:t>口袋型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3611880"/>
            <a:ext cx="6126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核心賣點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3977639"/>
            <a:ext cx="62179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7C5CFF"/>
                </a:solidFill>
                <a:latin typeface="Microsoft JhengHei"/>
                <a:ea typeface="Microsoft JhengHei"/>
                <a:cs typeface="Microsoft JhengHei"/>
              </a:rPr>
              <a:t>▸  </a:t>
            </a:r>
            <a:r>
              <a:rPr sz="1200" b="0">
                <a:solidFill>
                  <a:srgbClr val="1A2332"/>
                </a:solidFill>
                <a:latin typeface="Microsoft JhengHei"/>
                <a:ea typeface="Microsoft JhengHei"/>
                <a:cs typeface="Microsoft JhengHei"/>
              </a:rPr>
              <a:t>3-in-1 同時充手機／耳機／手錶，一站解決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7C5CFF"/>
                </a:solidFill>
                <a:latin typeface="Microsoft JhengHei"/>
                <a:ea typeface="Microsoft JhengHei"/>
                <a:cs typeface="Microsoft JhengHei"/>
              </a:rPr>
              <a:t>▸  </a:t>
            </a:r>
            <a:r>
              <a:rPr sz="1200" b="0">
                <a:solidFill>
                  <a:srgbClr val="1A2332"/>
                </a:solidFill>
                <a:latin typeface="Microsoft JhengHei"/>
                <a:ea typeface="Microsoft JhengHei"/>
                <a:cs typeface="Microsoft JhengHei"/>
              </a:rPr>
              <a:t>次世代 Qi2.2 標準，充電速度較前代提升約 70%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7C5CFF"/>
                </a:solidFill>
                <a:latin typeface="Microsoft JhengHei"/>
                <a:ea typeface="Microsoft JhengHei"/>
                <a:cs typeface="Microsoft JhengHei"/>
              </a:rPr>
              <a:t>▸  </a:t>
            </a:r>
            <a:r>
              <a:rPr sz="1200" b="0">
                <a:solidFill>
                  <a:srgbClr val="1A2332"/>
                </a:solidFill>
                <a:latin typeface="Microsoft JhengHei"/>
                <a:ea typeface="Microsoft JhengHei"/>
                <a:cs typeface="Microsoft JhengHei"/>
              </a:rPr>
              <a:t>MagSafe 磁吸精準對位，放上即充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7C5CFF"/>
                </a:solidFill>
                <a:latin typeface="Microsoft JhengHei"/>
                <a:ea typeface="Microsoft JhengHei"/>
                <a:cs typeface="Microsoft JhengHei"/>
              </a:rPr>
              <a:t>▸  </a:t>
            </a:r>
            <a:r>
              <a:rPr sz="1200" b="0">
                <a:solidFill>
                  <a:srgbClr val="1A2332"/>
                </a:solidFill>
                <a:latin typeface="Microsoft JhengHei"/>
                <a:ea typeface="Microsoft JhengHei"/>
                <a:cs typeface="Microsoft JhengHei"/>
              </a:rPr>
              <a:t>口袋型輕巧折疊，一秒展開即用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7C5CFF"/>
                </a:solidFill>
                <a:latin typeface="Microsoft JhengHei"/>
                <a:ea typeface="Microsoft JhengHei"/>
                <a:cs typeface="Microsoft JhengHei"/>
              </a:rPr>
              <a:t>▸  </a:t>
            </a:r>
            <a:r>
              <a:rPr sz="1200" b="0">
                <a:solidFill>
                  <a:srgbClr val="1A2332"/>
                </a:solidFill>
                <a:latin typeface="Microsoft JhengHei"/>
                <a:ea typeface="Microsoft JhengHei"/>
                <a:cs typeface="Microsoft JhengHei"/>
              </a:rPr>
              <a:t>差旅／外出隨身充電站，桌面零雜線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B7B"/>
                </a:solidFill>
                <a:latin typeface="Microsoft JhengHei"/>
                <a:ea typeface="Microsoft JhengHei"/>
                <a:cs typeface="Microsoft JhengHei"/>
              </a:rPr>
              <a:t>LYCANDER × Wokyis × Sharge ｜ 8/1 三檔齊發團購提報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11535" y="6400800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B7B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0896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7C5CFF"/>
                </a:solidFill>
                <a:latin typeface="Microsoft JhengHei"/>
                <a:ea typeface="Microsoft JhengHei"/>
                <a:cs typeface="Microsoft JhengHei"/>
              </a:rPr>
              <a:t>LYCANDER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LUNA Mag 小露娜　規格與團購方案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85855" cy="10972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產品規格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1554480" cy="566928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920240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充電協定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920240"/>
            <a:ext cx="374903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14016" y="1920240"/>
            <a:ext cx="3520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2"/>
                </a:solidFill>
                <a:latin typeface="Microsoft JhengHei"/>
                <a:ea typeface="Microsoft JhengHei"/>
                <a:cs typeface="Microsoft JhengHei"/>
              </a:rPr>
              <a:t>Qi2.2，MagSafe 相容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487168"/>
            <a:ext cx="1554480" cy="566928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487168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充電裝置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2487168"/>
            <a:ext cx="374903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14016" y="2487168"/>
            <a:ext cx="3520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2"/>
                </a:solidFill>
                <a:latin typeface="Microsoft JhengHei"/>
                <a:ea typeface="Microsoft JhengHei"/>
                <a:cs typeface="Microsoft JhengHei"/>
              </a:rPr>
              <a:t>手機 + 耳機 + 手錶（3-in-1 同時）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054096"/>
            <a:ext cx="1554480" cy="566928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054096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形式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3054096"/>
            <a:ext cx="374903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14016" y="3054096"/>
            <a:ext cx="3520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2"/>
                </a:solidFill>
                <a:latin typeface="Microsoft JhengHei"/>
                <a:ea typeface="Microsoft JhengHei"/>
                <a:cs typeface="Microsoft JhengHei"/>
              </a:rPr>
              <a:t>口袋型可折疊無線充電站，一秒展開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621024"/>
            <a:ext cx="1554480" cy="566928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3621024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核心訴求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3621024"/>
            <a:ext cx="374903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14016" y="3621024"/>
            <a:ext cx="3520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2"/>
                </a:solidFill>
                <a:latin typeface="Microsoft JhengHei"/>
                <a:ea typeface="Microsoft JhengHei"/>
                <a:cs typeface="Microsoft JhengHei"/>
              </a:rPr>
              <a:t>輕便易攜、快速展開、桌面整潔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187952"/>
            <a:ext cx="1554480" cy="566928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4187952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適用情境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4187952"/>
            <a:ext cx="374903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14016" y="4187952"/>
            <a:ext cx="3520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2"/>
                </a:solidFill>
                <a:latin typeface="Microsoft JhengHei"/>
                <a:ea typeface="Microsoft JhengHei"/>
                <a:cs typeface="Microsoft JhengHei"/>
              </a:rPr>
              <a:t>通勤、差旅、辦公桌、床頭隨身充電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150876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7C5CFF"/>
                </a:solidFill>
                <a:latin typeface="Microsoft JhengHei"/>
                <a:ea typeface="Microsoft JhengHei"/>
                <a:cs typeface="Microsoft JhengHei"/>
              </a:rPr>
              <a:t>團購方案（待業務填寫）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920240"/>
            <a:ext cx="2377440" cy="566928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1920240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建議售價 (NT$)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32520" y="1920240"/>
            <a:ext cx="2743200" cy="566928"/>
          </a:xfrm>
          <a:prstGeom prst="rect">
            <a:avLst/>
          </a:prstGeom>
          <a:solidFill>
            <a:srgbClr val="FFF3CD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0" y="1920240"/>
            <a:ext cx="2560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A7300"/>
                </a:solidFill>
                <a:latin typeface="Microsoft JhengHei"/>
                <a:ea typeface="Microsoft JhengHei"/>
                <a:cs typeface="Microsoft JhengHei"/>
              </a:rPr>
              <a:t>待填 TBD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487168"/>
            <a:ext cx="2377440" cy="566928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2487168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募資價 (NT$)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32520" y="2487168"/>
            <a:ext cx="2743200" cy="566928"/>
          </a:xfrm>
          <a:prstGeom prst="rect">
            <a:avLst/>
          </a:prstGeom>
          <a:solidFill>
            <a:srgbClr val="FFF3CD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0" y="2487168"/>
            <a:ext cx="2560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A7300"/>
                </a:solidFill>
                <a:latin typeface="Microsoft JhengHei"/>
                <a:ea typeface="Microsoft JhengHei"/>
                <a:cs typeface="Microsoft JhengHei"/>
              </a:rPr>
              <a:t>待填 TBD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3054096"/>
            <a:ext cx="2377440" cy="566928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054096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團購價 (NT$)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32520" y="3054096"/>
            <a:ext cx="2743200" cy="566928"/>
          </a:xfrm>
          <a:prstGeom prst="rect">
            <a:avLst/>
          </a:prstGeom>
          <a:solidFill>
            <a:srgbClr val="FFF3CD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69680" y="3054096"/>
            <a:ext cx="2560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A7300"/>
                </a:solidFill>
                <a:latin typeface="Microsoft JhengHei"/>
                <a:ea typeface="Microsoft JhengHei"/>
                <a:cs typeface="Microsoft JhengHei"/>
              </a:rPr>
              <a:t>待填 TBD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621024"/>
            <a:ext cx="2377440" cy="566928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3621024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拆帳 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32520" y="3621024"/>
            <a:ext cx="2743200" cy="566928"/>
          </a:xfrm>
          <a:prstGeom prst="rect">
            <a:avLst/>
          </a:prstGeom>
          <a:solidFill>
            <a:srgbClr val="FFF3CD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69680" y="3621024"/>
            <a:ext cx="2560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A7300"/>
                </a:solidFill>
                <a:latin typeface="Microsoft JhengHei"/>
                <a:ea typeface="Microsoft JhengHei"/>
                <a:cs typeface="Microsoft JhengHei"/>
              </a:rPr>
              <a:t>待填 TBD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5080" y="4187952"/>
            <a:ext cx="2377440" cy="566928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4187952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MOQ 起訂量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32520" y="4187952"/>
            <a:ext cx="2743200" cy="566928"/>
          </a:xfrm>
          <a:prstGeom prst="rect">
            <a:avLst/>
          </a:prstGeom>
          <a:solidFill>
            <a:srgbClr val="FFF3CD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69680" y="4187952"/>
            <a:ext cx="2560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A7300"/>
                </a:solidFill>
                <a:latin typeface="Microsoft JhengHei"/>
                <a:ea typeface="Microsoft JhengHei"/>
                <a:cs typeface="Microsoft JhengHei"/>
              </a:rPr>
              <a:t>待填 TBD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55080" y="4754880"/>
            <a:ext cx="2377440" cy="566928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0" y="4754880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出貨日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732520" y="4754880"/>
            <a:ext cx="2743200" cy="566928"/>
          </a:xfrm>
          <a:prstGeom prst="rect">
            <a:avLst/>
          </a:prstGeom>
          <a:solidFill>
            <a:srgbClr val="FFF3CD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869680" y="4754880"/>
            <a:ext cx="2560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A7300"/>
                </a:solidFill>
                <a:latin typeface="Microsoft JhengHei"/>
                <a:ea typeface="Microsoft JhengHei"/>
                <a:cs typeface="Microsoft JhengHei"/>
              </a:rPr>
              <a:t>待填 TBD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55080" y="5367528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B7B"/>
                </a:solidFill>
                <a:latin typeface="Microsoft JhengHei"/>
                <a:ea typeface="Microsoft JhengHei"/>
                <a:cs typeface="Microsoft JhengHei"/>
              </a:rPr>
              <a:t>嘖嘖募資專案：https://www.zeczec.com/projects/luna-mag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B7B"/>
                </a:solidFill>
                <a:latin typeface="Microsoft JhengHei"/>
                <a:ea typeface="Microsoft JhengHei"/>
                <a:cs typeface="Microsoft JhengHei"/>
              </a:rPr>
              <a:t>LYCANDER × Wokyis × Sharge ｜ 8/1 三檔齊發團購提報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11535" y="6400800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B7B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1F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0896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FA2FF"/>
                </a:solidFill>
                <a:latin typeface="Microsoft JhengHei"/>
                <a:ea typeface="Microsoft JhengHei"/>
                <a:cs typeface="Microsoft JhengHei"/>
              </a:rPr>
              <a:t>SHARGE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Sharge Disk Pro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85855" cy="10972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4297680" cy="402336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EE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4297680" cy="4023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B6B7B"/>
                </a:solidFill>
                <a:latin typeface="Microsoft JhengHei"/>
                <a:ea typeface="Microsoft JhengHei"/>
                <a:cs typeface="Microsoft JhengHei"/>
              </a:rPr>
              <a:t>產品圖 / KV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B7B"/>
                </a:solidFill>
                <a:latin typeface="Microsoft JhengHei"/>
                <a:ea typeface="Microsoft JhengHei"/>
                <a:cs typeface="Microsoft JhengHei"/>
              </a:rPr>
              <a:t>置入處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1554480"/>
            <a:ext cx="6126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FA2FF"/>
                </a:solidFill>
                <a:latin typeface="Microsoft JhengHei"/>
                <a:ea typeface="Microsoft JhengHei"/>
                <a:cs typeface="Microsoft JhengHei"/>
              </a:rPr>
              <a:t>全球首款主動散熱 PSSD × 多埠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2103120"/>
            <a:ext cx="6126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A2332"/>
                </a:solidFill>
                <a:latin typeface="Microsoft JhengHei"/>
                <a:ea typeface="Microsoft JhengHei"/>
                <a:cs typeface="Microsoft JhengHei"/>
              </a:rPr>
              <a:t>全球首款內建 NVMe PSSD 的主動散熱多埠 Hub。升級渦輪風扇有效抑制過熱與降速，5-in-1 一機整合儲存與擴充；口袋尺寸、重量僅約 150g。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49240" y="3063240"/>
            <a:ext cx="1144828" cy="310896"/>
          </a:xfrm>
          <a:prstGeom prst="roundRect">
            <a:avLst/>
          </a:prstGeom>
          <a:noFill/>
          <a:ln w="15875">
            <a:solidFill>
              <a:srgbClr val="1FA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3063240"/>
            <a:ext cx="11448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FA2FF"/>
                </a:solidFill>
                <a:latin typeface="Microsoft JhengHei"/>
                <a:ea typeface="Microsoft JhengHei"/>
                <a:cs typeface="Microsoft JhengHei"/>
              </a:rPr>
              <a:t>主動散熱 PSSD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58660" y="3063240"/>
            <a:ext cx="1243584" cy="310896"/>
          </a:xfrm>
          <a:prstGeom prst="roundRect">
            <a:avLst/>
          </a:prstGeom>
          <a:noFill/>
          <a:ln w="15875">
            <a:solidFill>
              <a:srgbClr val="1FA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58660" y="3063240"/>
            <a:ext cx="124358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FA2FF"/>
                </a:solidFill>
                <a:latin typeface="Microsoft JhengHei"/>
                <a:ea typeface="Microsoft JhengHei"/>
                <a:cs typeface="Microsoft JhengHei"/>
              </a:rPr>
              <a:t>5-in-1 Hub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6836" y="3063240"/>
            <a:ext cx="848563" cy="310896"/>
          </a:xfrm>
          <a:prstGeom prst="roundRect">
            <a:avLst/>
          </a:prstGeom>
          <a:noFill/>
          <a:ln w="15875">
            <a:solidFill>
              <a:srgbClr val="1FA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6836" y="3063240"/>
            <a:ext cx="84856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FA2FF"/>
                </a:solidFill>
                <a:latin typeface="Microsoft JhengHei"/>
                <a:ea typeface="Microsoft JhengHei"/>
                <a:cs typeface="Microsoft JhengHei"/>
              </a:rPr>
              <a:t>最高 4TB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3063240"/>
            <a:ext cx="651052" cy="310896"/>
          </a:xfrm>
          <a:prstGeom prst="roundRect">
            <a:avLst/>
          </a:prstGeom>
          <a:noFill/>
          <a:ln w="15875">
            <a:solidFill>
              <a:srgbClr val="1FA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9992" y="3063240"/>
            <a:ext cx="6510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FA2FF"/>
                </a:solidFill>
                <a:latin typeface="Microsoft JhengHei"/>
                <a:ea typeface="Microsoft JhengHei"/>
                <a:cs typeface="Microsoft JhengHei"/>
              </a:rPr>
              <a:t>150g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3611880"/>
            <a:ext cx="6126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核心賣點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3977639"/>
            <a:ext cx="62179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FA2FF"/>
                </a:solidFill>
                <a:latin typeface="Microsoft JhengHei"/>
                <a:ea typeface="Microsoft JhengHei"/>
                <a:cs typeface="Microsoft JhengHei"/>
              </a:rPr>
              <a:t>▸  </a:t>
            </a:r>
            <a:r>
              <a:rPr sz="1200" b="0">
                <a:solidFill>
                  <a:srgbClr val="1A2332"/>
                </a:solidFill>
                <a:latin typeface="Microsoft JhengHei"/>
                <a:ea typeface="Microsoft JhengHei"/>
                <a:cs typeface="Microsoft JhengHei"/>
              </a:rPr>
              <a:t>全球首款主動散熱 PSSD + Hub，Ice-storm 散熱抑制降速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FA2FF"/>
                </a:solidFill>
                <a:latin typeface="Microsoft JhengHei"/>
                <a:ea typeface="Microsoft JhengHei"/>
                <a:cs typeface="Microsoft JhengHei"/>
              </a:rPr>
              <a:t>▸  </a:t>
            </a:r>
            <a:r>
              <a:rPr sz="1200" b="0">
                <a:solidFill>
                  <a:srgbClr val="1A2332"/>
                </a:solidFill>
                <a:latin typeface="Microsoft JhengHei"/>
                <a:ea typeface="Microsoft JhengHei"/>
                <a:cs typeface="Microsoft JhengHei"/>
              </a:rPr>
              <a:t>5-in-1 多埠：4 埠 Hub + HDMI 2.1 + 內建線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FA2FF"/>
                </a:solidFill>
                <a:latin typeface="Microsoft JhengHei"/>
                <a:ea typeface="Microsoft JhengHei"/>
                <a:cs typeface="Microsoft JhengHei"/>
              </a:rPr>
              <a:t>▸  </a:t>
            </a:r>
            <a:r>
              <a:rPr sz="1200" b="0">
                <a:solidFill>
                  <a:srgbClr val="1A2332"/>
                </a:solidFill>
                <a:latin typeface="Microsoft JhengHei"/>
                <a:ea typeface="Microsoft JhengHei"/>
                <a:cs typeface="Microsoft JhengHei"/>
              </a:rPr>
              <a:t>最高 4TB 容量、10Gbps 高速傳輸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FA2FF"/>
                </a:solidFill>
                <a:latin typeface="Microsoft JhengHei"/>
                <a:ea typeface="Microsoft JhengHei"/>
                <a:cs typeface="Microsoft JhengHei"/>
              </a:rPr>
              <a:t>▸  </a:t>
            </a:r>
            <a:r>
              <a:rPr sz="1200" b="0">
                <a:solidFill>
                  <a:srgbClr val="1A2332"/>
                </a:solidFill>
                <a:latin typeface="Microsoft JhengHei"/>
                <a:ea typeface="Microsoft JhengHei"/>
                <a:cs typeface="Microsoft JhengHei"/>
              </a:rPr>
              <a:t>MagSafe 磁吸、約 150g 口袋尺寸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FA2FF"/>
                </a:solidFill>
                <a:latin typeface="Microsoft JhengHei"/>
                <a:ea typeface="Microsoft JhengHei"/>
                <a:cs typeface="Microsoft JhengHei"/>
              </a:rPr>
              <a:t>▸  </a:t>
            </a:r>
            <a:r>
              <a:rPr sz="1200" b="0">
                <a:solidFill>
                  <a:srgbClr val="1A2332"/>
                </a:solidFill>
                <a:latin typeface="Microsoft JhengHei"/>
                <a:ea typeface="Microsoft JhengHei"/>
                <a:cs typeface="Microsoft JhengHei"/>
              </a:rPr>
              <a:t>集結 3000+ 前代募資者回饋優化（散熱／HDMI 穩定／供電／相容／埠數）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B7B"/>
                </a:solidFill>
                <a:latin typeface="Microsoft JhengHei"/>
                <a:ea typeface="Microsoft JhengHei"/>
                <a:cs typeface="Microsoft JhengHei"/>
              </a:rPr>
              <a:t>LYCANDER × Wokyis × Sharge ｜ 8/1 三檔齊發團購提報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11535" y="6400800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B7B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1F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0896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FA2FF"/>
                </a:solidFill>
                <a:latin typeface="Microsoft JhengHei"/>
                <a:ea typeface="Microsoft JhengHei"/>
                <a:cs typeface="Microsoft JhengHei"/>
              </a:rPr>
              <a:t>SHARGE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Sharge Disk Pro　規格與團購方案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85855" cy="10972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產品規格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1554480" cy="566928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920240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容量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920240"/>
            <a:ext cx="374903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14016" y="1920240"/>
            <a:ext cx="3520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2"/>
                </a:solidFill>
                <a:latin typeface="Microsoft JhengHei"/>
                <a:ea typeface="Microsoft JhengHei"/>
                <a:cs typeface="Microsoft JhengHei"/>
              </a:rPr>
              <a:t>最高 4TB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487168"/>
            <a:ext cx="1554480" cy="566928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487168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傳輸速度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2487168"/>
            <a:ext cx="374903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14016" y="2487168"/>
            <a:ext cx="3520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2"/>
                </a:solidFill>
                <a:latin typeface="Microsoft JhengHei"/>
                <a:ea typeface="Microsoft JhengHei"/>
                <a:cs typeface="Microsoft JhengHei"/>
              </a:rPr>
              <a:t>10Gbps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054096"/>
            <a:ext cx="1554480" cy="566928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054096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介面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3054096"/>
            <a:ext cx="374903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14016" y="3054096"/>
            <a:ext cx="3520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2"/>
                </a:solidFill>
                <a:latin typeface="Microsoft JhengHei"/>
                <a:ea typeface="Microsoft JhengHei"/>
                <a:cs typeface="Microsoft JhengHei"/>
              </a:rPr>
              <a:t>4 埠 Hub、HDMI 2.1、內建線、MagSafe 磁吸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621024"/>
            <a:ext cx="1554480" cy="566928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3621024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散熱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3621024"/>
            <a:ext cx="374903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14016" y="3621024"/>
            <a:ext cx="3520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2"/>
                </a:solidFill>
                <a:latin typeface="Microsoft JhengHei"/>
                <a:ea typeface="Microsoft JhengHei"/>
                <a:cs typeface="Microsoft JhengHei"/>
              </a:rPr>
              <a:t>Ice-storm 主動散熱渦輪風扇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187952"/>
            <a:ext cx="1554480" cy="566928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4187952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重量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4187952"/>
            <a:ext cx="374903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14016" y="4187952"/>
            <a:ext cx="3520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2"/>
                </a:solidFill>
                <a:latin typeface="Microsoft JhengHei"/>
                <a:ea typeface="Microsoft JhengHei"/>
                <a:cs typeface="Microsoft JhengHei"/>
              </a:rPr>
              <a:t>約 150g（口袋尺寸）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150876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FA2FF"/>
                </a:solidFill>
                <a:latin typeface="Microsoft JhengHei"/>
                <a:ea typeface="Microsoft JhengHei"/>
                <a:cs typeface="Microsoft JhengHei"/>
              </a:rPr>
              <a:t>團購方案（待業務填寫）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920240"/>
            <a:ext cx="2377440" cy="566928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1920240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建議售價 (NT$)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32520" y="1920240"/>
            <a:ext cx="2743200" cy="566928"/>
          </a:xfrm>
          <a:prstGeom prst="rect">
            <a:avLst/>
          </a:prstGeom>
          <a:solidFill>
            <a:srgbClr val="FFF3CD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0" y="1920240"/>
            <a:ext cx="2560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A7300"/>
                </a:solidFill>
                <a:latin typeface="Microsoft JhengHei"/>
                <a:ea typeface="Microsoft JhengHei"/>
                <a:cs typeface="Microsoft JhengHei"/>
              </a:rPr>
              <a:t>待填 TBD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487168"/>
            <a:ext cx="2377440" cy="566928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2487168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募資價 (NT$)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32520" y="2487168"/>
            <a:ext cx="2743200" cy="566928"/>
          </a:xfrm>
          <a:prstGeom prst="rect">
            <a:avLst/>
          </a:prstGeom>
          <a:solidFill>
            <a:srgbClr val="FFF3CD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0" y="2487168"/>
            <a:ext cx="2560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A7300"/>
                </a:solidFill>
                <a:latin typeface="Microsoft JhengHei"/>
                <a:ea typeface="Microsoft JhengHei"/>
                <a:cs typeface="Microsoft JhengHei"/>
              </a:rPr>
              <a:t>待填 TBD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3054096"/>
            <a:ext cx="2377440" cy="566928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054096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團購價 (NT$)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32520" y="3054096"/>
            <a:ext cx="2743200" cy="566928"/>
          </a:xfrm>
          <a:prstGeom prst="rect">
            <a:avLst/>
          </a:prstGeom>
          <a:solidFill>
            <a:srgbClr val="FFF3CD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69680" y="3054096"/>
            <a:ext cx="2560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A7300"/>
                </a:solidFill>
                <a:latin typeface="Microsoft JhengHei"/>
                <a:ea typeface="Microsoft JhengHei"/>
                <a:cs typeface="Microsoft JhengHei"/>
              </a:rPr>
              <a:t>待填 TBD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621024"/>
            <a:ext cx="2377440" cy="566928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3621024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拆帳 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32520" y="3621024"/>
            <a:ext cx="2743200" cy="566928"/>
          </a:xfrm>
          <a:prstGeom prst="rect">
            <a:avLst/>
          </a:prstGeom>
          <a:solidFill>
            <a:srgbClr val="FFF3CD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69680" y="3621024"/>
            <a:ext cx="2560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A7300"/>
                </a:solidFill>
                <a:latin typeface="Microsoft JhengHei"/>
                <a:ea typeface="Microsoft JhengHei"/>
                <a:cs typeface="Microsoft JhengHei"/>
              </a:rPr>
              <a:t>待填 TBD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5080" y="4187952"/>
            <a:ext cx="2377440" cy="566928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4187952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MOQ 起訂量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32520" y="4187952"/>
            <a:ext cx="2743200" cy="566928"/>
          </a:xfrm>
          <a:prstGeom prst="rect">
            <a:avLst/>
          </a:prstGeom>
          <a:solidFill>
            <a:srgbClr val="FFF3CD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69680" y="4187952"/>
            <a:ext cx="2560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A7300"/>
                </a:solidFill>
                <a:latin typeface="Microsoft JhengHei"/>
                <a:ea typeface="Microsoft JhengHei"/>
                <a:cs typeface="Microsoft JhengHei"/>
              </a:rPr>
              <a:t>待填 TBD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55080" y="4754880"/>
            <a:ext cx="2377440" cy="566928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0" y="4754880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出貨日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732520" y="4754880"/>
            <a:ext cx="2743200" cy="566928"/>
          </a:xfrm>
          <a:prstGeom prst="rect">
            <a:avLst/>
          </a:prstGeom>
          <a:solidFill>
            <a:srgbClr val="FFF3CD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869680" y="4754880"/>
            <a:ext cx="2560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A7300"/>
                </a:solidFill>
                <a:latin typeface="Microsoft JhengHei"/>
                <a:ea typeface="Microsoft JhengHei"/>
                <a:cs typeface="Microsoft JhengHei"/>
              </a:rPr>
              <a:t>待填 TBD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55080" y="5367528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B7B"/>
                </a:solidFill>
                <a:latin typeface="Microsoft JhengHei"/>
                <a:ea typeface="Microsoft JhengHei"/>
                <a:cs typeface="Microsoft JhengHei"/>
              </a:rPr>
              <a:t>嘖嘖募資專案：https://www.zeczec.com/projects/disk-pro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B7B"/>
                </a:solidFill>
                <a:latin typeface="Microsoft JhengHei"/>
                <a:ea typeface="Microsoft JhengHei"/>
                <a:cs typeface="Microsoft JhengHei"/>
              </a:rPr>
              <a:t>LYCANDER × Wokyis × Sharge ｜ 8/1 三檔齊發團購提報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11535" y="6400800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B7B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00A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0896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A8A8"/>
                </a:solidFill>
                <a:latin typeface="Microsoft JhengHei"/>
                <a:ea typeface="Microsoft JhengHei"/>
                <a:cs typeface="Microsoft JhengHei"/>
              </a:rPr>
              <a:t>CAMPAIGN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團購機制與檔期時程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85855" cy="10972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檔期時程（8/1 三檔同步上檔）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1993392" cy="10972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20824"/>
            <a:ext cx="1719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預熱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423160"/>
            <a:ext cx="17739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B7B"/>
                </a:solidFill>
                <a:latin typeface="Microsoft JhengHei"/>
                <a:ea typeface="Microsoft JhengHei"/>
                <a:cs typeface="Microsoft JhengHei"/>
              </a:rPr>
              <a:t>上檔前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B7B"/>
                </a:solidFill>
                <a:latin typeface="Microsoft JhengHei"/>
                <a:ea typeface="Microsoft JhengHei"/>
                <a:cs typeface="Microsoft JhengHei"/>
              </a:rPr>
              <a:t>素材／名單預告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9504" y="1874519"/>
            <a:ext cx="1993392" cy="1097280"/>
          </a:xfrm>
          <a:prstGeom prst="roundRect">
            <a:avLst/>
          </a:prstGeom>
          <a:solidFill>
            <a:srgbClr val="0E2A47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26664" y="2020824"/>
            <a:ext cx="1719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開團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2423160"/>
            <a:ext cx="17739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8D6E5"/>
                </a:solidFill>
                <a:latin typeface="Microsoft JhengHei"/>
                <a:ea typeface="Microsoft JhengHei"/>
                <a:cs typeface="Microsoft JhengHei"/>
              </a:rPr>
              <a:t>8 / 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8D6E5"/>
                </a:solidFill>
                <a:latin typeface="Microsoft JhengHei"/>
                <a:ea typeface="Microsoft JhengHei"/>
                <a:cs typeface="Microsoft JhengHei"/>
              </a:rPr>
              <a:t>三檔齊發上線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47488" y="1874519"/>
            <a:ext cx="1993392" cy="10972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84648" y="2020824"/>
            <a:ext cx="1719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加溫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2423160"/>
            <a:ext cx="17739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B7B"/>
                </a:solidFill>
                <a:latin typeface="Microsoft JhengHei"/>
                <a:ea typeface="Microsoft JhengHei"/>
                <a:cs typeface="Microsoft JhengHei"/>
              </a:rPr>
              <a:t>檔中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B7B"/>
                </a:solidFill>
                <a:latin typeface="Microsoft JhengHei"/>
                <a:ea typeface="Microsoft JhengHei"/>
                <a:cs typeface="Microsoft JhengHei"/>
              </a:rPr>
              <a:t>滿額／加購推播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05472" y="1874519"/>
            <a:ext cx="1993392" cy="10972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42632" y="2020824"/>
            <a:ext cx="1719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結團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423160"/>
            <a:ext cx="17739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B7B"/>
                </a:solidFill>
                <a:latin typeface="Microsoft JhengHei"/>
                <a:ea typeface="Microsoft JhengHei"/>
                <a:cs typeface="Microsoft JhengHei"/>
              </a:rPr>
              <a:t>待填 TBD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B7B"/>
                </a:solidFill>
                <a:latin typeface="Microsoft JhengHei"/>
                <a:ea typeface="Microsoft JhengHei"/>
                <a:cs typeface="Microsoft JhengHei"/>
              </a:rPr>
              <a:t>統計與請款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63456" y="1874519"/>
            <a:ext cx="1993392" cy="10972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0616" y="2020824"/>
            <a:ext cx="1719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出貨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3184" y="2423160"/>
            <a:ext cx="17739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B7B"/>
                </a:solidFill>
                <a:latin typeface="Microsoft JhengHei"/>
                <a:ea typeface="Microsoft JhengHei"/>
                <a:cs typeface="Microsoft JhengHei"/>
              </a:rPr>
              <a:t>待填 TBD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B7B"/>
                </a:solidFill>
                <a:latin typeface="Microsoft JhengHei"/>
                <a:ea typeface="Microsoft JhengHei"/>
                <a:cs typeface="Microsoft JhengHei"/>
              </a:rPr>
              <a:t>依各檔到貨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291840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團購機制重點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0"/>
            <a:ext cx="108813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00A8A8"/>
                </a:solidFill>
                <a:latin typeface="Microsoft JhengHei"/>
                <a:ea typeface="Microsoft JhengHei"/>
                <a:cs typeface="Microsoft JhengHei"/>
              </a:rPr>
              <a:t>▸  </a:t>
            </a:r>
            <a:r>
              <a:rPr sz="1200" b="0">
                <a:solidFill>
                  <a:srgbClr val="1A2332"/>
                </a:solidFill>
                <a:latin typeface="Microsoft JhengHei"/>
                <a:ea typeface="Microsoft JhengHei"/>
                <a:cs typeface="Microsoft JhengHei"/>
              </a:rPr>
              <a:t>三檔齊發：8/1 同步上檔，集中聲量、一次開團三主打。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00A8A8"/>
                </a:solidFill>
                <a:latin typeface="Microsoft JhengHei"/>
                <a:ea typeface="Microsoft JhengHei"/>
                <a:cs typeface="Microsoft JhengHei"/>
              </a:rPr>
              <a:t>▸  </a:t>
            </a:r>
            <a:r>
              <a:rPr sz="1200" b="0">
                <a:solidFill>
                  <a:srgbClr val="1A2332"/>
                </a:solidFill>
                <a:latin typeface="Microsoft JhengHei"/>
                <a:ea typeface="Microsoft JhengHei"/>
                <a:cs typeface="Microsoft JhengHei"/>
              </a:rPr>
              <a:t>組合優惠：擴充座 × 充電 × 儲存可設加購／滿額門檻，拉高客單（門檻待定 TBD）。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00A8A8"/>
                </a:solidFill>
                <a:latin typeface="Microsoft JhengHei"/>
                <a:ea typeface="Microsoft JhengHei"/>
                <a:cs typeface="Microsoft JhengHei"/>
              </a:rPr>
              <a:t>▸  </a:t>
            </a:r>
            <a:r>
              <a:rPr sz="1200" b="0">
                <a:solidFill>
                  <a:srgbClr val="1A2332"/>
                </a:solidFill>
                <a:latin typeface="Microsoft JhengHei"/>
                <a:ea typeface="Microsoft JhengHei"/>
                <a:cs typeface="Microsoft JhengHei"/>
              </a:rPr>
              <a:t>素材支援：提供產品圖、KV、規格表、賣點文案、QA 懶人包等開團素材包。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00A8A8"/>
                </a:solidFill>
                <a:latin typeface="Microsoft JhengHei"/>
                <a:ea typeface="Microsoft JhengHei"/>
                <a:cs typeface="Microsoft JhengHei"/>
              </a:rPr>
              <a:t>▸  </a:t>
            </a:r>
            <a:r>
              <a:rPr sz="1200" b="0">
                <a:solidFill>
                  <a:srgbClr val="1A2332"/>
                </a:solidFill>
                <a:latin typeface="Microsoft JhengHei"/>
                <a:ea typeface="Microsoft JhengHei"/>
                <a:cs typeface="Microsoft JhengHei"/>
              </a:rPr>
              <a:t>結團與出貨：結團日、請款與各檔出貨時程待雙方確認（TBD）。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B7B"/>
                </a:solidFill>
                <a:latin typeface="Microsoft JhengHei"/>
                <a:ea typeface="Microsoft JhengHei"/>
                <a:cs typeface="Microsoft JhengHei"/>
              </a:rPr>
              <a:t>LYCANDER × Wokyis × Sharge ｜ 8/1 三檔齊發團購提報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11535" y="6400800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B7B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00A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0896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A8A8"/>
                </a:solidFill>
                <a:latin typeface="Microsoft JhengHei"/>
                <a:ea typeface="Microsoft JhengHei"/>
                <a:cs typeface="Microsoft JhengHei"/>
              </a:rPr>
              <a:t>TERMS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合作條件總表（待填 TBD）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85855" cy="10972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B7B"/>
                </a:solidFill>
                <a:latin typeface="Microsoft JhengHei"/>
                <a:ea typeface="Microsoft JhengHei"/>
                <a:cs typeface="Microsoft JhengHei"/>
              </a:rPr>
              <a:t>以下商業條件待雙方確認後填入，本提報先提供完整商品與活動資訊。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2286000" cy="384048"/>
          </a:xfrm>
          <a:prstGeom prst="rect">
            <a:avLst/>
          </a:prstGeom>
          <a:solidFill>
            <a:srgbClr val="0E2A47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874519"/>
            <a:ext cx="2103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項目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874519"/>
            <a:ext cx="2743200" cy="384048"/>
          </a:xfrm>
          <a:prstGeom prst="rect">
            <a:avLst/>
          </a:prstGeom>
          <a:solidFill>
            <a:srgbClr val="E8743B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874519"/>
            <a:ext cx="2560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Wokyis M5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874519"/>
            <a:ext cx="2743200" cy="384048"/>
          </a:xfrm>
          <a:prstGeom prst="rect">
            <a:avLst/>
          </a:prstGeom>
          <a:solidFill>
            <a:srgbClr val="7C5C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59" y="1874519"/>
            <a:ext cx="2560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LUNA Mag 小露娜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1874519"/>
            <a:ext cx="2743200" cy="384048"/>
          </a:xfrm>
          <a:prstGeom prst="rect">
            <a:avLst/>
          </a:prstGeom>
          <a:solidFill>
            <a:srgbClr val="1FA2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1874519"/>
            <a:ext cx="2560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Sharge Disk Pro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258568"/>
            <a:ext cx="2286000" cy="384048"/>
          </a:xfrm>
          <a:prstGeom prst="rect">
            <a:avLst/>
          </a:prstGeom>
          <a:solidFill>
            <a:srgbClr val="F4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258568"/>
            <a:ext cx="2103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建議售價 (NT$)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2258568"/>
            <a:ext cx="2743200" cy="384048"/>
          </a:xfrm>
          <a:prstGeom prst="rect">
            <a:avLst/>
          </a:prstGeom>
          <a:solidFill>
            <a:srgbClr val="FFF3CD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8960" y="2258568"/>
            <a:ext cx="2560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9A7300"/>
                </a:solidFill>
                <a:latin typeface="Microsoft JhengHei"/>
                <a:ea typeface="Microsoft JhengHei"/>
                <a:cs typeface="Microsoft JhengHei"/>
              </a:rPr>
              <a:t>待填 TBD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2258568"/>
            <a:ext cx="2743200" cy="384048"/>
          </a:xfrm>
          <a:prstGeom prst="rect">
            <a:avLst/>
          </a:prstGeom>
          <a:solidFill>
            <a:srgbClr val="FFF3CD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59" y="2258568"/>
            <a:ext cx="2560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9A7300"/>
                </a:solidFill>
                <a:latin typeface="Microsoft JhengHei"/>
                <a:ea typeface="Microsoft JhengHei"/>
                <a:cs typeface="Microsoft JhengHei"/>
              </a:rPr>
              <a:t>待填 TBD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2258568"/>
            <a:ext cx="2743200" cy="384048"/>
          </a:xfrm>
          <a:prstGeom prst="rect">
            <a:avLst/>
          </a:prstGeom>
          <a:solidFill>
            <a:srgbClr val="FFF3CD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2258568"/>
            <a:ext cx="2560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9A7300"/>
                </a:solidFill>
                <a:latin typeface="Microsoft JhengHei"/>
                <a:ea typeface="Microsoft JhengHei"/>
                <a:cs typeface="Microsoft JhengHei"/>
              </a:rPr>
              <a:t>待填 TBD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2642615"/>
            <a:ext cx="2286000" cy="384048"/>
          </a:xfrm>
          <a:prstGeom prst="rect">
            <a:avLst/>
          </a:prstGeom>
          <a:solidFill>
            <a:srgbClr val="F4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2642615"/>
            <a:ext cx="2103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募資價 (NT$)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2642615"/>
            <a:ext cx="2743200" cy="384048"/>
          </a:xfrm>
          <a:prstGeom prst="rect">
            <a:avLst/>
          </a:prstGeom>
          <a:solidFill>
            <a:srgbClr val="FFF3CD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0" y="2642615"/>
            <a:ext cx="2560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9A7300"/>
                </a:solidFill>
                <a:latin typeface="Microsoft JhengHei"/>
                <a:ea typeface="Microsoft JhengHei"/>
                <a:cs typeface="Microsoft JhengHei"/>
              </a:rPr>
              <a:t>待填 TBD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2642615"/>
            <a:ext cx="2743200" cy="384048"/>
          </a:xfrm>
          <a:prstGeom prst="rect">
            <a:avLst/>
          </a:prstGeom>
          <a:solidFill>
            <a:srgbClr val="FFF3CD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59" y="2642615"/>
            <a:ext cx="2560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9A7300"/>
                </a:solidFill>
                <a:latin typeface="Microsoft JhengHei"/>
                <a:ea typeface="Microsoft JhengHei"/>
                <a:cs typeface="Microsoft JhengHei"/>
              </a:rPr>
              <a:t>待填 TBD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03920" y="2642615"/>
            <a:ext cx="2743200" cy="384048"/>
          </a:xfrm>
          <a:prstGeom prst="rect">
            <a:avLst/>
          </a:prstGeom>
          <a:solidFill>
            <a:srgbClr val="FFF3CD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0" y="2642615"/>
            <a:ext cx="2560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9A7300"/>
                </a:solidFill>
                <a:latin typeface="Microsoft JhengHei"/>
                <a:ea typeface="Microsoft JhengHei"/>
                <a:cs typeface="Microsoft JhengHei"/>
              </a:rPr>
              <a:t>待填 TBD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026663"/>
            <a:ext cx="2286000" cy="384048"/>
          </a:xfrm>
          <a:prstGeom prst="rect">
            <a:avLst/>
          </a:prstGeom>
          <a:solidFill>
            <a:srgbClr val="F4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3026663"/>
            <a:ext cx="2103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團購價 (NT$)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17520" y="3026663"/>
            <a:ext cx="2743200" cy="384048"/>
          </a:xfrm>
          <a:prstGeom prst="rect">
            <a:avLst/>
          </a:prstGeom>
          <a:solidFill>
            <a:srgbClr val="FFF3CD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08960" y="3026663"/>
            <a:ext cx="2560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9A7300"/>
                </a:solidFill>
                <a:latin typeface="Microsoft JhengHei"/>
                <a:ea typeface="Microsoft JhengHei"/>
                <a:cs typeface="Microsoft JhengHei"/>
              </a:rPr>
              <a:t>待填 TBD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720" y="3026663"/>
            <a:ext cx="2743200" cy="384048"/>
          </a:xfrm>
          <a:prstGeom prst="rect">
            <a:avLst/>
          </a:prstGeom>
          <a:solidFill>
            <a:srgbClr val="FFF3CD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52159" y="3026663"/>
            <a:ext cx="2560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9A7300"/>
                </a:solidFill>
                <a:latin typeface="Microsoft JhengHei"/>
                <a:ea typeface="Microsoft JhengHei"/>
                <a:cs typeface="Microsoft JhengHei"/>
              </a:rPr>
              <a:t>待填 TBD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03920" y="3026663"/>
            <a:ext cx="2743200" cy="384048"/>
          </a:xfrm>
          <a:prstGeom prst="rect">
            <a:avLst/>
          </a:prstGeom>
          <a:solidFill>
            <a:srgbClr val="FFF3CD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95360" y="3026663"/>
            <a:ext cx="2560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9A7300"/>
                </a:solidFill>
                <a:latin typeface="Microsoft JhengHei"/>
                <a:ea typeface="Microsoft JhengHei"/>
                <a:cs typeface="Microsoft JhengHei"/>
              </a:rPr>
              <a:t>待填 TBD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3410711"/>
            <a:ext cx="2286000" cy="384048"/>
          </a:xfrm>
          <a:prstGeom prst="rect">
            <a:avLst/>
          </a:prstGeom>
          <a:solidFill>
            <a:srgbClr val="F4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" y="3410711"/>
            <a:ext cx="2103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拆帳 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17520" y="3410711"/>
            <a:ext cx="2743200" cy="384048"/>
          </a:xfrm>
          <a:prstGeom prst="rect">
            <a:avLst/>
          </a:prstGeom>
          <a:solidFill>
            <a:srgbClr val="FFF3CD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08960" y="3410711"/>
            <a:ext cx="2560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9A7300"/>
                </a:solidFill>
                <a:latin typeface="Microsoft JhengHei"/>
                <a:ea typeface="Microsoft JhengHei"/>
                <a:cs typeface="Microsoft JhengHei"/>
              </a:rPr>
              <a:t>待填 TBD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60720" y="3410711"/>
            <a:ext cx="2743200" cy="384048"/>
          </a:xfrm>
          <a:prstGeom prst="rect">
            <a:avLst/>
          </a:prstGeom>
          <a:solidFill>
            <a:srgbClr val="FFF3CD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52159" y="3410711"/>
            <a:ext cx="2560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9A7300"/>
                </a:solidFill>
                <a:latin typeface="Microsoft JhengHei"/>
                <a:ea typeface="Microsoft JhengHei"/>
                <a:cs typeface="Microsoft JhengHei"/>
              </a:rPr>
              <a:t>待填 TBD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03920" y="3410711"/>
            <a:ext cx="2743200" cy="384048"/>
          </a:xfrm>
          <a:prstGeom prst="rect">
            <a:avLst/>
          </a:prstGeom>
          <a:solidFill>
            <a:srgbClr val="FFF3CD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95360" y="3410711"/>
            <a:ext cx="2560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9A7300"/>
                </a:solidFill>
                <a:latin typeface="Microsoft JhengHei"/>
                <a:ea typeface="Microsoft JhengHei"/>
                <a:cs typeface="Microsoft JhengHei"/>
              </a:rPr>
              <a:t>待填 TBD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3794760"/>
            <a:ext cx="2286000" cy="384048"/>
          </a:xfrm>
          <a:prstGeom prst="rect">
            <a:avLst/>
          </a:prstGeom>
          <a:solidFill>
            <a:srgbClr val="F4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1248" y="3794760"/>
            <a:ext cx="2103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MOQ 起訂量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17520" y="3794760"/>
            <a:ext cx="2743200" cy="384048"/>
          </a:xfrm>
          <a:prstGeom prst="rect">
            <a:avLst/>
          </a:prstGeom>
          <a:solidFill>
            <a:srgbClr val="FFF3CD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08960" y="3794760"/>
            <a:ext cx="2560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9A7300"/>
                </a:solidFill>
                <a:latin typeface="Microsoft JhengHei"/>
                <a:ea typeface="Microsoft JhengHei"/>
                <a:cs typeface="Microsoft JhengHei"/>
              </a:rPr>
              <a:t>待填 TBD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60720" y="3794760"/>
            <a:ext cx="2743200" cy="384048"/>
          </a:xfrm>
          <a:prstGeom prst="rect">
            <a:avLst/>
          </a:prstGeom>
          <a:solidFill>
            <a:srgbClr val="FFF3CD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52159" y="3794760"/>
            <a:ext cx="2560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9A7300"/>
                </a:solidFill>
                <a:latin typeface="Microsoft JhengHei"/>
                <a:ea typeface="Microsoft JhengHei"/>
                <a:cs typeface="Microsoft JhengHei"/>
              </a:rPr>
              <a:t>待填 TBD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03920" y="3794760"/>
            <a:ext cx="2743200" cy="384048"/>
          </a:xfrm>
          <a:prstGeom prst="rect">
            <a:avLst/>
          </a:prstGeom>
          <a:solidFill>
            <a:srgbClr val="FFF3CD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95360" y="3794760"/>
            <a:ext cx="2560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9A7300"/>
                </a:solidFill>
                <a:latin typeface="Microsoft JhengHei"/>
                <a:ea typeface="Microsoft JhengHei"/>
                <a:cs typeface="Microsoft JhengHei"/>
              </a:rPr>
              <a:t>待填 TBD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1520" y="4178808"/>
            <a:ext cx="2286000" cy="384048"/>
          </a:xfrm>
          <a:prstGeom prst="rect">
            <a:avLst/>
          </a:prstGeom>
          <a:solidFill>
            <a:srgbClr val="F4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1248" y="4178808"/>
            <a:ext cx="2103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出貨日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17520" y="4178808"/>
            <a:ext cx="2743200" cy="384048"/>
          </a:xfrm>
          <a:prstGeom prst="rect">
            <a:avLst/>
          </a:prstGeom>
          <a:solidFill>
            <a:srgbClr val="FFF3CD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108960" y="4178808"/>
            <a:ext cx="2560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9A7300"/>
                </a:solidFill>
                <a:latin typeface="Microsoft JhengHei"/>
                <a:ea typeface="Microsoft JhengHei"/>
                <a:cs typeface="Microsoft JhengHei"/>
              </a:rPr>
              <a:t>待填 TBD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760720" y="4178808"/>
            <a:ext cx="2743200" cy="384048"/>
          </a:xfrm>
          <a:prstGeom prst="rect">
            <a:avLst/>
          </a:prstGeom>
          <a:solidFill>
            <a:srgbClr val="FFF3CD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852159" y="4178808"/>
            <a:ext cx="2560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9A7300"/>
                </a:solidFill>
                <a:latin typeface="Microsoft JhengHei"/>
                <a:ea typeface="Microsoft JhengHei"/>
                <a:cs typeface="Microsoft JhengHei"/>
              </a:rPr>
              <a:t>待填 TBD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503920" y="4178808"/>
            <a:ext cx="2743200" cy="384048"/>
          </a:xfrm>
          <a:prstGeom prst="rect">
            <a:avLst/>
          </a:prstGeom>
          <a:solidFill>
            <a:srgbClr val="FFF3CD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95360" y="4178808"/>
            <a:ext cx="2560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9A7300"/>
                </a:solidFill>
                <a:latin typeface="Microsoft JhengHei"/>
                <a:ea typeface="Microsoft JhengHei"/>
                <a:cs typeface="Microsoft JhengHei"/>
              </a:rPr>
              <a:t>待填 TBD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31520" y="4562856"/>
            <a:ext cx="2286000" cy="384048"/>
          </a:xfrm>
          <a:prstGeom prst="rect">
            <a:avLst/>
          </a:prstGeom>
          <a:solidFill>
            <a:srgbClr val="F4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1248" y="4562856"/>
            <a:ext cx="2103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結帳/請款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017520" y="4562856"/>
            <a:ext cx="2743200" cy="384048"/>
          </a:xfrm>
          <a:prstGeom prst="rect">
            <a:avLst/>
          </a:prstGeom>
          <a:solidFill>
            <a:srgbClr val="FFF3CD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108960" y="4562856"/>
            <a:ext cx="2560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9A7300"/>
                </a:solidFill>
                <a:latin typeface="Microsoft JhengHei"/>
                <a:ea typeface="Microsoft JhengHei"/>
                <a:cs typeface="Microsoft JhengHei"/>
              </a:rPr>
              <a:t>待填 TBD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760720" y="4562856"/>
            <a:ext cx="2743200" cy="384048"/>
          </a:xfrm>
          <a:prstGeom prst="rect">
            <a:avLst/>
          </a:prstGeom>
          <a:solidFill>
            <a:srgbClr val="FFF3CD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852159" y="4562856"/>
            <a:ext cx="2560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9A7300"/>
                </a:solidFill>
                <a:latin typeface="Microsoft JhengHei"/>
                <a:ea typeface="Microsoft JhengHei"/>
                <a:cs typeface="Microsoft JhengHei"/>
              </a:rPr>
              <a:t>待填 TBD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503920" y="4562856"/>
            <a:ext cx="2743200" cy="384048"/>
          </a:xfrm>
          <a:prstGeom prst="rect">
            <a:avLst/>
          </a:prstGeom>
          <a:solidFill>
            <a:srgbClr val="FFF3CD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595360" y="4562856"/>
            <a:ext cx="2560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9A7300"/>
                </a:solidFill>
                <a:latin typeface="Microsoft JhengHei"/>
                <a:ea typeface="Microsoft JhengHei"/>
                <a:cs typeface="Microsoft JhengHei"/>
              </a:rPr>
              <a:t>待填 TBD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1520" y="4946904"/>
            <a:ext cx="2286000" cy="384048"/>
          </a:xfrm>
          <a:prstGeom prst="rect">
            <a:avLst/>
          </a:prstGeom>
          <a:solidFill>
            <a:srgbClr val="F4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41248" y="4946904"/>
            <a:ext cx="2103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物流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946904"/>
            <a:ext cx="2743200" cy="384048"/>
          </a:xfrm>
          <a:prstGeom prst="rect">
            <a:avLst/>
          </a:prstGeom>
          <a:solidFill>
            <a:srgbClr val="FFF3CD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108960" y="4946904"/>
            <a:ext cx="2560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9A7300"/>
                </a:solidFill>
                <a:latin typeface="Microsoft JhengHei"/>
                <a:ea typeface="Microsoft JhengHei"/>
                <a:cs typeface="Microsoft JhengHei"/>
              </a:rPr>
              <a:t>待填 TBD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760720" y="4946904"/>
            <a:ext cx="2743200" cy="384048"/>
          </a:xfrm>
          <a:prstGeom prst="rect">
            <a:avLst/>
          </a:prstGeom>
          <a:solidFill>
            <a:srgbClr val="FFF3CD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852159" y="4946904"/>
            <a:ext cx="2560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9A7300"/>
                </a:solidFill>
                <a:latin typeface="Microsoft JhengHei"/>
                <a:ea typeface="Microsoft JhengHei"/>
                <a:cs typeface="Microsoft JhengHei"/>
              </a:rPr>
              <a:t>待填 TBD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503920" y="4946904"/>
            <a:ext cx="2743200" cy="384048"/>
          </a:xfrm>
          <a:prstGeom prst="rect">
            <a:avLst/>
          </a:prstGeom>
          <a:solidFill>
            <a:srgbClr val="FFF3CD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595360" y="4946904"/>
            <a:ext cx="2560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9A7300"/>
                </a:solidFill>
                <a:latin typeface="Microsoft JhengHei"/>
                <a:ea typeface="Microsoft JhengHei"/>
                <a:cs typeface="Microsoft JhengHei"/>
              </a:rPr>
              <a:t>待填 TBD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31520" y="5330952"/>
            <a:ext cx="2286000" cy="384048"/>
          </a:xfrm>
          <a:prstGeom prst="rect">
            <a:avLst/>
          </a:prstGeom>
          <a:solidFill>
            <a:srgbClr val="F4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41248" y="5330952"/>
            <a:ext cx="2103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E2A47"/>
                </a:solidFill>
                <a:latin typeface="Microsoft JhengHei"/>
                <a:ea typeface="Microsoft JhengHei"/>
                <a:cs typeface="Microsoft JhengHei"/>
              </a:rPr>
              <a:t>售後保固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017520" y="5330952"/>
            <a:ext cx="2743200" cy="384048"/>
          </a:xfrm>
          <a:prstGeom prst="rect">
            <a:avLst/>
          </a:prstGeom>
          <a:solidFill>
            <a:srgbClr val="FFF3CD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108960" y="5330952"/>
            <a:ext cx="2560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9A7300"/>
                </a:solidFill>
                <a:latin typeface="Microsoft JhengHei"/>
                <a:ea typeface="Microsoft JhengHei"/>
                <a:cs typeface="Microsoft JhengHei"/>
              </a:rPr>
              <a:t>待填 TBD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760720" y="5330952"/>
            <a:ext cx="2743200" cy="384048"/>
          </a:xfrm>
          <a:prstGeom prst="rect">
            <a:avLst/>
          </a:prstGeom>
          <a:solidFill>
            <a:srgbClr val="FFF3CD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852159" y="5330952"/>
            <a:ext cx="2560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9A7300"/>
                </a:solidFill>
                <a:latin typeface="Microsoft JhengHei"/>
                <a:ea typeface="Microsoft JhengHei"/>
                <a:cs typeface="Microsoft JhengHei"/>
              </a:rPr>
              <a:t>待填 TBD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503920" y="5330952"/>
            <a:ext cx="2743200" cy="384048"/>
          </a:xfrm>
          <a:prstGeom prst="rect">
            <a:avLst/>
          </a:prstGeom>
          <a:solidFill>
            <a:srgbClr val="FFF3CD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595360" y="5330952"/>
            <a:ext cx="2560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9A7300"/>
                </a:solidFill>
                <a:latin typeface="Microsoft JhengHei"/>
                <a:ea typeface="Microsoft JhengHei"/>
                <a:cs typeface="Microsoft JhengHei"/>
              </a:rPr>
              <a:t>待填 TBD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B7B"/>
                </a:solidFill>
                <a:latin typeface="Microsoft JhengHei"/>
                <a:ea typeface="Microsoft JhengHei"/>
                <a:cs typeface="Microsoft JhengHei"/>
              </a:rPr>
              <a:t>LYCANDER × Wokyis × Sharge ｜ 8/1 三檔齊發團購提報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911535" y="6400800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B7B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一次提案，三檔齊發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C8D6E5"/>
                </a:solidFill>
                <a:latin typeface="Microsoft JhengHei"/>
                <a:ea typeface="Microsoft JhengHei"/>
                <a:cs typeface="Microsoft JhengHei"/>
              </a:rPr>
              <a:t>8/1 同步上檔，誠摯邀請 ama shop 共同開團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611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A8A8"/>
                </a:solidFill>
                <a:latin typeface="Microsoft JhengHei"/>
                <a:ea typeface="Microsoft JhengHei"/>
                <a:cs typeface="Microsoft JhengHei"/>
              </a:rPr>
              <a:t>聯絡窗口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931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LYCANDER　｜　service@lycander.tw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70916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743B"/>
                </a:solidFill>
                <a:latin typeface="Microsoft JhengHei"/>
                <a:ea typeface="Microsoft JhengHei"/>
                <a:cs typeface="Microsoft JhengHei"/>
              </a:rPr>
              <a:t>Wokyis M5　</a:t>
            </a:r>
            <a:r>
              <a:rPr sz="1100" b="0">
                <a:solidFill>
                  <a:srgbClr val="C8D6E5"/>
                </a:solidFill>
                <a:latin typeface="Microsoft JhengHei"/>
                <a:ea typeface="Microsoft JhengHei"/>
                <a:cs typeface="Microsoft JhengHei"/>
              </a:rPr>
              <a:t>https://www.zeczec.com/projects/wokyis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C5CFF"/>
                </a:solidFill>
                <a:latin typeface="Microsoft JhengHei"/>
                <a:ea typeface="Microsoft JhengHei"/>
                <a:cs typeface="Microsoft JhengHei"/>
              </a:rPr>
              <a:t>LUNA Mag　 </a:t>
            </a:r>
            <a:r>
              <a:rPr sz="1100" b="0">
                <a:solidFill>
                  <a:srgbClr val="C8D6E5"/>
                </a:solidFill>
                <a:latin typeface="Microsoft JhengHei"/>
                <a:ea typeface="Microsoft JhengHei"/>
                <a:cs typeface="Microsoft JhengHei"/>
              </a:rPr>
              <a:t>https://www.zeczec.com/projects/luna-mag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A2FF"/>
                </a:solidFill>
                <a:latin typeface="Microsoft JhengHei"/>
                <a:ea typeface="Microsoft JhengHei"/>
                <a:cs typeface="Microsoft JhengHei"/>
              </a:rPr>
              <a:t>Disk Pro　  </a:t>
            </a:r>
            <a:r>
              <a:rPr sz="1100" b="0">
                <a:solidFill>
                  <a:srgbClr val="C8D6E5"/>
                </a:solidFill>
                <a:latin typeface="Microsoft JhengHei"/>
                <a:ea typeface="Microsoft JhengHei"/>
                <a:cs typeface="Microsoft JhengHei"/>
              </a:rPr>
              <a:t>https://www.zeczec.com/projects/disk-pro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