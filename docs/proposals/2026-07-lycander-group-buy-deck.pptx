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73152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F3D68C"/>
              </a:gs>
              <a:gs pos="100000">
                <a:srgbClr val="8A6512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5B54F"/>
                </a:solidFill>
                <a:latin typeface="Microsoft JhengHei"/>
                <a:ea typeface="Microsoft JhengHei"/>
              </a:rPr>
              <a:t>L Y C A N D E R   G R O U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8046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EF1F7"/>
                </a:solidFill>
                <a:latin typeface="Microsoft JhengHei"/>
                <a:ea typeface="Microsoft JhengHei"/>
              </a:rPr>
              <a:t>團購合作提案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EEF1F7"/>
                </a:solidFill>
                <a:latin typeface="Microsoft JhengHei"/>
                <a:ea typeface="Microsoft JhengHei"/>
              </a:rPr>
              <a:t>四大主打商品 × 多入組方案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AA5BC"/>
                </a:solidFill>
                <a:latin typeface="Microsoft JhengHei"/>
                <a:ea typeface="Microsoft JhengHei"/>
              </a:rPr>
              <a:t>嘖嘖募資實績 × 國際品牌代理 × 授權親子商品——為全台團購公司與團購主準備的一站式開團提案。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提案對象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EF1F7"/>
                </a:solidFill>
                <a:latin typeface="Microsoft JhengHei"/>
                <a:ea typeface="Microsoft JhengHei"/>
              </a:rPr>
              <a:t>全台知名團購公司及團購主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50292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檔期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EF1F7"/>
                </a:solidFill>
                <a:latin typeface="Microsoft JhengHei"/>
                <a:ea typeface="Microsoft JhengHei"/>
              </a:rPr>
              <a:t>2026 Q3–Q4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50292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聯絡窗口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EF1F7"/>
                </a:solidFill>
                <a:latin typeface="Microsoft JhengHei"/>
                <a:ea typeface="Microsoft JhengHei"/>
              </a:rPr>
              <a:t>service@lycander.tw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一頁看懂本次提案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56433" cy="21031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主打商品：小露娜／Wokyis M5／SHARGE Disk Pro／Nettec 兒童牙刷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5113" y="1828800"/>
            <a:ext cx="2556433" cy="21031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3＋1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3C 科技 ＋ 親子生活，一次覆蓋兩大黃金客群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5113" y="182880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146" y="1828800"/>
            <a:ext cx="2556433" cy="21031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嘖嘖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三項商品皆有嘖嘖募資實績可直接引用開團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6" y="182880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95179" y="1828800"/>
            <a:ext cx="2556433" cy="21031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多入組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每品備妥單入＋多入組，另有跨產品主題組合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5179" y="182880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合作模式採「批售供貨」或「分潤抽成」雙軌，MOQ 與價格階梯詳見「合作條件」頁；所有標示〔提報前確認〕之欄位為保留給雙方議定的彈性空間。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關於 LYCANDER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自有品牌：LYCANDER（小露娜 LUNA Mag、OLIKA 系列充電產品）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國際品牌台灣通路：Wokyis（M5 擴充座）、SHARGE 閃極（Disk Pro）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授權合作：Nettec 優樂兒童電動牙刷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既有通路：lycander.tw 官網、嘖嘖募資、PackUp；Nettec 已上架 momo／蝦皮／全家行動購／博客來／樂天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我們提供團購主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現貨供應與彈性出貨（代發／整批）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台灣在地保固與售後客服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完整行銷素材包與開團文案支援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開團期間專屬窗口即時對接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WHY GROUP-BUY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為什麼這四支商品適合開團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1｜募資實績可背書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嘖嘖專案頁銷售數字可直接引用於開團文案——例：Wokyis M5 嘖嘖 807 人次贊助、2026/4/15 達標。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2｜賣點一句話就能轉述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「一秒展開的口袋充電站」「復古造型 13 合 1 擴充座」「全球首款主動散熱 PSSD」「迪士尼／三麗鷗授權牙刷」。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862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3｜客群互補、雙線開團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3C 打上班族與果粉，牙刷打媽媽社群；同一檔期可雙線操作，擴大觸及不互搶。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862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4｜多入組拉高客單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雙入／三入／家庭組湊單門檻低，符合團購「揪團湊件」習性，客單價與成團率同步提升。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PRODUCT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產品線總覽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8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088"/>
                <a:gridCol w="2367002"/>
                <a:gridCol w="2058262"/>
                <a:gridCol w="2161175"/>
                <a:gridCol w="205826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產品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定位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目標客群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建議售價（公開查證）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銷售背書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LYCANDER 小露娜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口袋型三合一無線充電站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果粉、通勤、出差旅行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嘖嘖 luna-mag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Wokyis M5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13合1 迷你螢幕擴充座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Mac mini／桌面美學族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標準版參考 NT$5,980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嘖嘖 807 人次贊助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SHARGE Disk Pro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主動散熱 PSSD＋5合1 Hub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攝影師、剪輯師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美國官網 US$269 起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嘖嘖＋國際媒體評測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Nettec 兒童電動牙刷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2–12 歲音波電動牙刷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家長、親子社群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NT$790／890／1,580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momo／蝦皮／全家上架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690"/>
                </a:solidFill>
                <a:latin typeface="Microsoft JhengHei"/>
                <a:ea typeface="Microsoft JhengHei"/>
              </a:rPr>
              <a:t>價格為公開通路查證之參考值；團購價與供貨價依「合作條件」頁價格階梯另議。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1F7"/>
                </a:solidFill>
                <a:latin typeface="Microsoft JhengHei"/>
                <a:ea typeface="Microsoft JhengHei"/>
              </a:rPr>
              <a:t>LYCANDER 小露娜（LUNA Mag）｜口袋型無線充電站——一秒展開，電就到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三合一同充：手機＋耳機＋手錶一座搞定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次世代 Qi2.2 無線充電標準，充電速度較前代提升約 70%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口袋型摺疊設計，一秒展開即用；出差旅行免帶三條線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LYCANDER 自有品牌，台灣在地保固與售後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0116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完整規格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5B54F"/>
                </a:solidFill>
                <a:latin typeface="Microsoft JhengHei"/>
                <a:ea typeface="Microsoft JhengHei"/>
              </a:rPr>
              <a:t>尺寸／重量／各埠瓦數配置：〔待填：以嘖嘖專案頁為準〕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嘖嘖專案：zeczec.com/projects/luna-mag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690"/>
                </a:solidFill>
                <a:latin typeface="Microsoft JhengHei"/>
                <a:ea typeface="Microsoft JhengHei"/>
              </a:rPr>
              <a:t>募資金額／贊助人數請於提報當日以專案頁即時數字截圖引用。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小露娜｜團購價格方案（多入組預留）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569"/>
                <a:gridCol w="2224122"/>
                <a:gridCol w="2012301"/>
                <a:gridCol w="2859586"/>
                <a:gridCol w="211821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團購價（建議 78–85 折）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團購主毛利空間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LUNA Mag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雙入組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×2（自用＋送禮）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單入 ×2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雙入再降 3–5%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三入團購組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×3（辦公室揪團）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單入 ×3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三入再降 5–8%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690"/>
                </a:solidFill>
                <a:latin typeface="Microsoft JhengHei"/>
                <a:ea typeface="Microsoft JhengHei"/>
              </a:rPr>
              <a:t>折扣區間為市場慣例之建議結構；實際團購底價由 LYCANDER 於提報前確認填入，開團期間享全通路價格保護。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1F7"/>
                </a:solidFill>
                <a:latin typeface="Microsoft JhengHei"/>
                <a:ea typeface="Microsoft JhengHei"/>
              </a:rPr>
              <a:t>Wokyis M5｜13 合 1 迷你螢幕擴充座——復古外觀，裡面全是現代武裝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復古經典電腦造型＋ 5 吋 HD 螢幕，桌面即是話題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13 合 1 連接埠；專為 Mac mini 設計，相容 MacBook Air/Pro 與 Windows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AA5BC"/>
                </a:solidFill>
                <a:latin typeface="Microsoft JhengHei"/>
                <a:ea typeface="Microsoft JhengHei"/>
              </a:rPr>
              <a:t>•  M.2 NVMe SSD 擴充槽（最高支援 8TB，內建散熱風扇）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011680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標準版｜USB-C 10Gbps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日常高速外接與文書效率首選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657600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專業版｜Thunderbolt 5 80Gbps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8K@60Hz DisplayPort 輸出，專業剪輯與高速 SSD 讀寫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Wokyis M5｜銷售實績與背書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807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嘖嘖贊助人次（796 位獨立贊助者）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5113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4/15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2026 年嘖嘖達標日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5113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146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KS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同步 Kickstarter 國際上線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6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95179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$5,980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標準版市售參考價（NT，lycander.tw／PackUp 販售中）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5179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嘖嘖專案：zeczec.com/projects/wokyis（常見問答 /faqs）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5B54F"/>
                </a:solidFill>
                <a:latin typeface="Microsoft JhengHei"/>
                <a:ea typeface="Microsoft JhengHei"/>
              </a:rPr>
              <a:t>總集資金額：〔待填：嘖嘖頁面即時數字〕——提報當日截圖引用，數字最有說服力。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Wokyis M5｜團購價格方案（多入組預留）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124"/>
                <a:gridCol w="2323168"/>
                <a:gridCol w="2121154"/>
                <a:gridCol w="2727198"/>
                <a:gridCol w="2020146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團購價（建議 78–85 折）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團購主毛利空間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標準版單入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M5（10Gbps）×1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NT$5,980（參考）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專業版單入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M5（TB5 80Gbps）×1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雙入辦公組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標準版 ×2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NT$11,960（參考）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雙入再降 3–5%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SSD 升級組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M5 ＋ SSD（容量另議）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組合價另議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1F7"/>
                </a:solidFill>
                <a:latin typeface="Microsoft JhengHei"/>
                <a:ea typeface="Microsoft JhengHei"/>
              </a:rPr>
              <a:t>SHARGE Disk Pro｜全球首款主動散熱 PSSD＋5 合 1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全球首款主動散熱行動固態硬碟：渦輪風扇 7,000–10,000 RPM 自動調速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持續寫入 480GB 以上仍維持 50°C 以下，長時間傳輸不掉速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10Gbps 高速傳輸；容量 1TB／2TB／4TB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5 合 1 多埠 Hub（含 HDMI 2.1，支援 8K）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150g 磁吸便攜；iPhone ProRes 直錄、iPad 即時備份、Mac/Windows 擴充皆適用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20240"/>
            <a:ext cx="4572000" cy="310896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一機四用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儲存＋擴充＋外接螢幕＋供電——創作者出門只帶一顆。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690"/>
                </a:solidFill>
                <a:latin typeface="Microsoft JhengHei"/>
                <a:ea typeface="Microsoft JhengHei"/>
              </a:rPr>
              <a:t>嘖嘖檔期曾祭出 VIP100 折扣碼＋HDMI 2.1 8K 認證線贈品，開團贈品操作有前例可循。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SHARGE Disk Pro｜銷售實績與背書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首款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全球第一款主動散熱 PSSD，品類開創者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5113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媒體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Tom's Hardware（2TB 版）、PetaPixel 國際評測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5113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146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US$269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美國官網起售價（1TB），國際定價可對照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6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95179" y="1920240"/>
            <a:ext cx="2556433" cy="18288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EF1F7"/>
                </a:solidFill>
                <a:latin typeface="Microsoft JhengHei"/>
                <a:ea typeface="Microsoft JhengHei"/>
              </a:rPr>
              <a:t>3 梯次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嘖嘖出貨梯次 3/25、4/15、4/25，交付紀錄透明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5179" y="1920240"/>
            <a:ext cx="2556433" cy="38100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5BC"/>
                </a:solidFill>
                <a:latin typeface="Microsoft JhengHei"/>
                <a:ea typeface="Microsoft JhengHei"/>
              </a:rPr>
              <a:t>嘖嘖專案：zeczec.com/projects/disk-pro（贊助者留言 /comments 可作口碑引用）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5B54F"/>
                </a:solidFill>
                <a:latin typeface="Microsoft JhengHei"/>
                <a:ea typeface="Microsoft JhengHei"/>
              </a:rPr>
              <a:t>募資金額／贊助人數：〔待填：嘖嘖頁面即時數字〕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SHARGE Disk Pro｜團購價格方案（多入組預留）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90879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132"/>
                <a:gridCol w="2323168"/>
                <a:gridCol w="2020146"/>
                <a:gridCol w="2727198"/>
                <a:gridCol w="2020146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團購價（建議 78–85 折）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團購主毛利空間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1TB 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Disk Pro 1TB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2TB 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Disk Pro 2TB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4TB 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Disk Pro 4TB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創作者雙入組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2TB ×2（工作＋備份）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雙入再降 3–5%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690"/>
                </a:solidFill>
                <a:latin typeface="Microsoft JhengHei"/>
                <a:ea typeface="Microsoft JhengHei"/>
              </a:rPr>
              <a:t>台灣售價與各容量團購底價由 LYCANDER 依原廠供貨條件於提報前確認。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1F7"/>
                </a:solidFill>
                <a:latin typeface="Microsoft JhengHei"/>
                <a:ea typeface="Microsoft JhengHei"/>
              </a:rPr>
              <a:t>Nettec 授權兒童電動牙刷｜優樂 NETTEC——展開小朋友的牙齒冒險故事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U 型矽膠刷頭音波電動牙刷，適用 2–12 歲，多段清潔模式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迪士尼授權款：小熊維尼、三眼怪、史迪奇、獅子王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三麗鷗授權款：酷洛米、大耳狗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經典恐龍造型款（綠／粉）、輕巧攜帶型（黑／白／粉）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已上架 momo、蝦皮、全家行動購、博客來、樂天——通路口碑可查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20240"/>
            <a:ext cx="4572000" cy="292608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長線價值：耗材回購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首團賣主機、回購團賣替換刷頭——適合固定班表的團購社群，一支商品吃兩種檔期。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5BC"/>
                </a:solidFill>
                <a:latin typeface="Microsoft JhengHei"/>
                <a:ea typeface="Microsoft JhengHei"/>
              </a:rPr>
              <a:t>官網：www.nettec.com.tw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05840" cy="310896"/>
          </a:xfrm>
          <a:prstGeom prst="rect">
            <a:avLst/>
          </a:prstGeom>
          <a:solidFill>
            <a:srgbClr val="E5B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31B2B"/>
                </a:solidFill>
                <a:latin typeface="Microsoft JhengHei"/>
                <a:ea typeface="Microsoft JhengHei"/>
              </a:rPr>
              <a:t>產品四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Nettec 兒童牙刷｜團購價格方案（多入組預留）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146"/>
                <a:gridCol w="2323168"/>
                <a:gridCol w="2121154"/>
                <a:gridCol w="2525183"/>
                <a:gridCol w="1919139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團購價（建議 78–85 折）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團購主毛利空間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攜帶型單入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攜帶型電動牙刷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NT$790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恐龍款單入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U 型恐龍造型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NT$890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授權款單入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迪士尼授權款 ×1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NT$1,580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兄弟姊妹 2 入組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恐龍款 ×2（雙色）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NT$1,780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2 入再降 3–5%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親子家庭組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授權款 ×2 ＋ 替換刷頭組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組合價另議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刷頭耗材加購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替換刷頭（回購型）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〔待填：官網耗材價〕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BUNDLE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跨產品多入組總表（主題組合提報）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549"/>
                <a:gridCol w="3636264"/>
                <a:gridCol w="3272637"/>
                <a:gridCol w="19393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主題組合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訴求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組合價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桌面工作站組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Wokyis M5 ＋ Disk Pro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Mac mini 桌面一次升級到位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出門帶電組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小露娜 ×2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家裡一座、包包一座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創作者全配組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M5 專業版 ＋ Disk Pro 2TB ＋ 小露娜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剪輯師／攝影師整套帶走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親子潔牙組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Nettec 授權款 ×2 ＋ 刷頭耗材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二寶家庭一次買齊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全家超值箱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小露娜 ＋ Nettec ×2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爸媽的 3C＋孩子的牙刷，一團全包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690"/>
                </a:solidFill>
                <a:latin typeface="Microsoft JhengHei"/>
                <a:ea typeface="Microsoft JhengHei"/>
              </a:rPr>
              <a:t>組合折扣邏輯建議：組合價 ≦ 各品團購價加總再降 3–8%；以「送耗材／配件」取代破價，保護各品單售價格帶。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合作條件（價格階梯）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1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8727033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條件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合作模式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A. 批售供貨（買斷）／ B. 分潤抽成（代收代付），依團購主慣例擇一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價格階梯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建議售價 → 團購價（建議 78–85 折）→ 批發／供貨價 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MOQ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各品項最低開團量 〔提報前確認〕；多入組可合併計算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價格保護（MAP）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開團期間全通路不破團購價；檔期錯開既有通路促銷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出貨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現貨品項下單後 X 個工作天出貨 〔提報前確認〕；可代發或整批出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售後保固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台灣在地保固；開團期間專屬客服窗口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對帳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團後 X 天內對帳結算 〔提報前確認〕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開團支援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40680" cy="292608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素材支援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產品圖庫＋開箱短影音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開團文案包（含嘖嘖實績截圖授權）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FAQ 客服懶人包，降低小編負擔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440680" cy="292608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9525">
            <a:solidFill>
              <a:srgbClr val="3A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2801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F1F7"/>
                </a:solidFill>
                <a:latin typeface="Microsoft JhengHei"/>
                <a:ea typeface="Microsoft JhengHei"/>
              </a:rPr>
              <a:t>活動支援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直播帶貨：出借樣品、品牌方連線說明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KOL 合作可談，分潤機制彈性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•  開團 SOP 對接：選品 → 定價 → 素材 → 上架 → 出貨 → 對帳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2026 Q3–Q4 檔期建議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76"/>
                <a:gridCol w="3636264"/>
                <a:gridCol w="484835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檔期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主推商品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5B54F"/>
                          </a:solidFill>
                          <a:latin typeface="Microsoft JhengHei"/>
                          <a:ea typeface="Microsoft JhengHei"/>
                        </a:rPr>
                        <a:t>理由</a:t>
                      </a:r>
                    </a:p>
                  </a:txBody>
                  <a:tcPr marT="45720" marB="45720" anchor="ctr">
                    <a:solidFill>
                      <a:srgbClr val="262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8 月｜開學季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Nettec 兒童牙刷、多入親子組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開學前家長採買潮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9 月｜新機潮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小露娜、SHARGE Disk Pro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iPhone 新機發表帶動配件與 ProRes 儲存需求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11 月｜雙 11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全品項＋跨產品組合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年度最大檔，多入組主打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1F7"/>
                          </a:solidFill>
                          <a:latin typeface="Microsoft JhengHei"/>
                          <a:ea typeface="Microsoft JhengHei"/>
                        </a:rPr>
                        <a:t>12 月｜聖誕年末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Wokyis M5、授權款牙刷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AA5BC"/>
                          </a:solidFill>
                          <a:latin typeface="Microsoft JhengHei"/>
                          <a:ea typeface="Microsoft JhengHei"/>
                        </a:rPr>
                        <a:t>造型商品送禮需求</a:t>
                      </a:r>
                    </a:p>
                  </a:txBody>
                  <a:tcPr marT="45720" marB="45720" anchor="ctr"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5B54F"/>
                </a:solidFill>
                <a:latin typeface="Microsoft JhengHei"/>
                <a:ea typeface="Microsoft JhengHe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EF1F7"/>
                </a:solidFill>
                <a:latin typeface="Microsoft JhengHei"/>
                <a:ea typeface="Microsoft JhengHei"/>
              </a:rPr>
              <a:t>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嘖嘖｜LUNA Mag 小露娜：https://www.zeczec.com/projects/luna-mag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嘖嘖｜Wokyis M5：https://www.zeczec.com/projects/wokyis（常見問答 /faqs）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嘖嘖｜SHARGE Disk Pro：https://www.zeczec.com/projects/disk-pro（留言 /comments）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優樂 NETTEC 官網：https://www.nettec.com.tw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5BC"/>
                </a:solidFill>
                <a:latin typeface="Microsoft JhengHei"/>
                <a:ea typeface="Microsoft JhengHei"/>
              </a:rPr>
              <a:t>輔助來源：SHARGE 官網、Tom's Hardware 與 PetaPixel 評測、lycander.tw、PackUp、momo／蝦皮／全家行動購／博客來 商品頁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引用原則：對外提報時，嘖嘖募資金額與贊助人數請以專案頁當日即時數字截圖為準；本簡報僅收錄已查證之公開資訊，未查證欄位一律標示待填。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73152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F3D68C"/>
              </a:gs>
              <a:gs pos="100000">
                <a:srgbClr val="8A6512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5B54F"/>
                </a:solidFill>
                <a:latin typeface="Microsoft JhengHei"/>
                <a:ea typeface="Microsoft JhengHei"/>
              </a:rPr>
              <a:t>L Y C A N D E R   G R O U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8046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EF1F7"/>
                </a:solidFill>
                <a:latin typeface="Microsoft JhengHei"/>
                <a:ea typeface="Microsoft JhengHei"/>
              </a:rPr>
              <a:t>期待與您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EEF1F7"/>
                </a:solidFill>
                <a:latin typeface="Microsoft JhengHei"/>
                <a:ea typeface="Microsoft JhengHei"/>
              </a:rPr>
              <a:t>在 2026 Q3 一起開團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Email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service@lycander.tw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84632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90"/>
                </a:solidFill>
                <a:latin typeface="Microsoft JhengHei"/>
                <a:ea typeface="Microsoft JhengHei"/>
              </a:rPr>
              <a:t>官網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EF1F7"/>
                </a:solidFill>
                <a:latin typeface="Microsoft JhengHei"/>
                <a:ea typeface="Microsoft JhengHei"/>
              </a:rPr>
              <a:t>www.lycander.tw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LYCANDER GROUP × 團購合作提案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690"/>
                </a:solidFill>
                <a:latin typeface="Microsoft JhengHei"/>
                <a:ea typeface="Microsoft Jheng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