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 ERP 使用流程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154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內部教育訓練與交接教材|搭配「員工工作手冊」使用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適用對象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1C5D99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後勤行政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057400" y="457200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E7D5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電商營運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0" y="457200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行政協助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26280" y="457200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126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v1.0|2026-08-09|維護:營運管理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為什麼每一張單據都要進正航?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三個理由,也是本公司的三條鐵律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965960" y="1554480"/>
            <a:ext cx="731520" cy="731520"/>
          </a:xfrm>
          <a:prstGeom prst="ellipse">
            <a:avLst/>
          </a:prstGeom>
          <a:solidFill>
            <a:srgbClr val="1C5D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4F8FB"/>
          </a:solidFill>
          <a:ln/>
        </p:spPr>
        <p:txBody>
          <a:bodyPr wrap="square" lIns="1905" tIns="1905" rIns="1905" bIns="1905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庫存才會準</a:t>
            </a:r>
            <a:endParaRPr lang="en-US" sz="1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進貨、出貨、退貨即時入帳,任何人查庫存都是真數字,採購決策才有依據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760720" y="1554480"/>
            <a:ext cx="731520" cy="731520"/>
          </a:xfrm>
          <a:prstGeom prst="ellipse">
            <a:avLst/>
          </a:prstGeom>
          <a:solidFill>
            <a:srgbClr val="2E7D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343400" y="25146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4F8FB"/>
          </a:solidFill>
          <a:ln/>
        </p:spPr>
        <p:txBody>
          <a:bodyPr wrap="square" lIns="1905" tIns="1905" rIns="1905" bIns="1905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E7D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帳才對得起來</a:t>
            </a:r>
            <a:endParaRPr lang="en-US" sz="1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應收應付對帳以單據為準;漏單=月底對帳差異=花數倍時間追查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555480" y="1554480"/>
            <a:ext cx="731520" cy="73152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138160" y="25146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4F8FB"/>
          </a:solidFill>
          <a:ln/>
        </p:spPr>
        <p:txBody>
          <a:bodyPr wrap="square" lIns="1905" tIns="1905" rIns="1905" bIns="1905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8A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人才接得走</a:t>
            </a:r>
            <a:endParaRPr lang="en-US" sz="1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所有交易記錄在系統,不在個人記憶;請假有人代理、離職一週可交接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8920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DF3E7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鐵律:①單據當日輸入,不隔日補單 ②一人一帳號,不共用 ③打錯不回刪,用沖銷單更正並備註原因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全公司資料流總覽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兩條主線:賣出去(上)與買進來(下);黃色箭頭=單據在正航內的流向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銷售線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平台訂單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官網/蝦皮/LINE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9244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D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電商營運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0" y="220827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2825496" y="178308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銷貨單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正航-銷貨管理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8610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D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電商營運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37176" y="220827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5102352" y="178308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揀貨出貨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出貨確認扣庫存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62956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114032" y="220827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379208" y="178308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物流配送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託運單留存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39812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90888" y="220827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9656064" y="178308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應收對帳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正航-應收帳款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916668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後勤行政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3520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採購線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388620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5B6B7C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採購決策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每週決策會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9244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60320" y="431139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2825496" y="388620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正航-採購管理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086100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後勤行政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37176" y="431139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6" name="Text 24"/>
          <p:cNvSpPr/>
          <p:nvPr/>
        </p:nvSpPr>
        <p:spPr>
          <a:xfrm>
            <a:off x="5102352" y="388620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到貨點收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對採購單驗收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62956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14032" y="431139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9" name="Text 27"/>
          <p:cNvSpPr/>
          <p:nvPr/>
        </p:nvSpPr>
        <p:spPr>
          <a:xfrm>
            <a:off x="7379208" y="388620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進貨入庫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正航-庫存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639812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390888" y="431139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32" name="Text 30"/>
          <p:cNvSpPr/>
          <p:nvPr/>
        </p:nvSpPr>
        <p:spPr>
          <a:xfrm>
            <a:off x="9656064" y="388620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應付對帳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付款清單→負責人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916668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後勤行政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562356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DF3E7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基本資料(商品/客戶/供應商)由 行政協助 依建檔規則維護,是兩條線共用的地基——編號亂了,全部的單據都亂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誰用哪個模組?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◎主要使用 ○支援/備援 查=僅查詢 —=無權限(完整版見手冊「ERP權限表」分頁)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4066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051560"/>
                <a:gridCol w="1051560"/>
                <a:gridCol w="1051560"/>
                <a:gridCol w="10515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正航模組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後勤行政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電商營運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行政協助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倉儲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營運管理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D9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基本資料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採購管理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銷貨管理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庫存管理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應收帳款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應付帳款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報表查詢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091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營運管理 的應收/應付「○」為 後勤行政 請假 3 日以上之對帳代理權限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8229600" y="146304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帳號三原則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一人一帳號,不共用不外借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權限調整由 負責人 核准後設定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離職當日停用帳號(人事行政 checklist 項目)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後勤行政|採購執行流程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模組:採購管理|頻率:每日|代理:行政協助(輸入)、決策一律回到 負責人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接收決策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每週採購決策會結論(品項/數量)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560320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2825496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開立採購單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正航-採購管理;確認供應商/單價/交期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37176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5102352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傳送供應商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發單並取得回覆確認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14032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7379208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追蹤交期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每日檢視未結採購單;延遲回報 負責人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90888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9656064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到貨通知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 倉儲 預定到貨日與品項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B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關鍵提醒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採購單「未結案清單」每日至少看一次——這是全公司缺貨預警的唯一來源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單價與決策會不符時,先問 負責人 再開單,不自行修改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 點收差異回報後:短交→催補或開立折讓;溢交→退回或補單,當日處理。折讓/退回明細每週併付款清單交 負責人 簽核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DF3E7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交接檢核:接收人能獨立「開一張採購單→查未結清單→處理一筆點收差異」即通過(對應一週交接計畫 D2/D3)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後勤行政|應收應付對帳流程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模組:應收帳款/應付帳款|頻率:每週|代理:短假累積待回任,3 日以上由 營運管理 依手冊執行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應收(客戶端)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984248" cy="1005840"/>
          </a:xfrm>
          <a:prstGeom prst="roundRect">
            <a:avLst>
              <a:gd name="adj" fmla="val 7273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拉出銷貨明細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正航-應收帳款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21854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2825496" y="1783080"/>
            <a:ext cx="1984248" cy="1005840"/>
          </a:xfrm>
          <a:prstGeom prst="roundRect">
            <a:avLst>
              <a:gd name="adj" fmla="val 7273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核對入帳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對銀行/平台撥款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37176" y="21854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5102352" y="1783080"/>
            <a:ext cx="1984248" cy="1005840"/>
          </a:xfrm>
          <a:prstGeom prst="roundRect">
            <a:avLst>
              <a:gd name="adj" fmla="val 7273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沖帳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正航收款沖帳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14032" y="21854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379208" y="1783080"/>
            <a:ext cx="1984248" cy="1005840"/>
          </a:xfrm>
          <a:prstGeom prst="roundRect">
            <a:avLst>
              <a:gd name="adj" fmla="val 7273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退回/退款沖銷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核對銷貨退回單 vs 平台退款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390888" y="21854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9656064" y="1783080"/>
            <a:ext cx="1984248" cy="1005840"/>
          </a:xfrm>
          <a:prstGeom prst="roundRect">
            <a:avLst>
              <a:gd name="adj" fmla="val 7273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催收清單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未入帳者列表追蹤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應付(供應商端)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2553462" cy="1005840"/>
          </a:xfrm>
          <a:prstGeom prst="roundRect">
            <a:avLst>
              <a:gd name="adj" fmla="val 7273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接收請款單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供應商月結請款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129534" y="396849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3394710" y="3566160"/>
            <a:ext cx="2553462" cy="1005840"/>
          </a:xfrm>
          <a:prstGeom prst="roundRect">
            <a:avLst>
              <a:gd name="adj" fmla="val 7273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核對進貨單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請款 vs 正航進貨紀錄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75604" y="396849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6240780" y="3566160"/>
            <a:ext cx="2553462" cy="1005840"/>
          </a:xfrm>
          <a:prstGeom prst="roundRect">
            <a:avLst>
              <a:gd name="adj" fmla="val 7273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產出付款清單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含金額/帳戶/到期日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821674" y="396849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9086850" y="3566160"/>
            <a:ext cx="2553462" cy="1005840"/>
          </a:xfrm>
          <a:prstGeom prst="roundRect">
            <a:avLst>
              <a:gd name="adj" fmla="val 7273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 負責人 付款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付款後正航沖帳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16636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DF3E7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原則:對帳差異當週查明,不跨月;查不明的差異列表報 負責人,不自行調帳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電商營運|訂單處理流程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模組:銷貨管理|頻率:每日|代理:後勤行政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官網/蝦皮訂單、LINE 訂購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560320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2825496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確認付款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平台已付/轉帳核對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37176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5102352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開銷貨單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正航-銷貨管理;客戶/品項/數量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14032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7379208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轉出貨清單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彙整當日清單交 倉儲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90888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9656064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2E7D55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出貨後回報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平台填單號、通知顧客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B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異常處理(當日必須動作)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缺貨:先通知顧客延遲與預計日,同步回報 後勤行政 補採購;顧客不等→取消退款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地址/資料錯誤:出貨前攔截修改;已出貨→聯繫物流改址或待退回重寄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取消訂單:已開銷貨單→作廢或開退回單,不可直接刪單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DF3E7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每日收尾勾稽:各平台當日訂單筆數=正航銷貨單筆數,差異當日補單——漏單拖到月底對帳才爆,要花數倍時間追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倉儲|收貨入庫流程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模組:庫存管理/採購進貨|頻率:每日|代理:行政協助(點收)、後勤行政(系統)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到貨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後勤行政 到貨通知準備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560320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2825496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點收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對採購單核對品項/數量/外觀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37176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5102352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E8A33D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差異回報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短交/溢交/損傷→拍照通知 後勤行政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14032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7379208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入庫上架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正航進貨入庫;依儲位配置上架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90888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9656064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單據歸檔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簽收單據交 後勤行政 對帳用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點收三查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查數量:實點,不看箱上標示直接入帳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查品項:型號/規格對採購單,近似品最容易收錯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查狀況:外箱破損當場拍照,先拍再拆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99632" y="35661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入庫原則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點收完成當日入庫,不放「待處理區」過夜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差異未確認的批次,先入實收數,備註差異處理中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新品項無儲位→問 後勤行政/依配置圖規則新增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倉儲|出貨與退貨流程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模組:銷貨出貨/銷貨退回|頻率:每日|代理:行政協助(揀包)、後勤行政(系統)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984248" cy="1005840"/>
          </a:xfrm>
          <a:prstGeom prst="roundRect">
            <a:avLst>
              <a:gd name="adj" fmla="val 7273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接出貨清單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電商營運彙整之當日清單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21854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2825496" y="1783080"/>
            <a:ext cx="1984248" cy="1005840"/>
          </a:xfrm>
          <a:prstGeom prst="roundRect">
            <a:avLst>
              <a:gd name="adj" fmla="val 7273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揀貨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依儲位揀貨、核對品項數量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37176" y="21854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5102352" y="1783080"/>
            <a:ext cx="1984248" cy="1005840"/>
          </a:xfrm>
          <a:prstGeom prst="roundRect">
            <a:avLst>
              <a:gd name="adj" fmla="val 7273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依包裝規範;列印託運單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14032" y="21854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379208" y="1783080"/>
            <a:ext cx="1984248" cy="1005840"/>
          </a:xfrm>
          <a:prstGeom prst="roundRect">
            <a:avLst>
              <a:gd name="adj" fmla="val 7273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出貨確認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正航出貨確認→扣庫存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390888" y="21854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9656064" y="1783080"/>
            <a:ext cx="1984248" cy="1005840"/>
          </a:xfrm>
          <a:prstGeom prst="roundRect">
            <a:avLst>
              <a:gd name="adj" fmla="val 7273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物流交接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交寄並留存簽收紀錄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2553462" cy="1005840"/>
          </a:xfrm>
          <a:prstGeom prst="roundRect">
            <a:avLst>
              <a:gd name="adj" fmla="val 7273"/>
            </a:avLst>
          </a:prstGeom>
          <a:solidFill>
            <a:srgbClr val="E8A33D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收退貨件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核對退貨申請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129534" y="396849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3394710" y="3566160"/>
            <a:ext cx="2553462" cy="1005840"/>
          </a:xfrm>
          <a:prstGeom prst="roundRect">
            <a:avLst>
              <a:gd name="adj" fmla="val 7273"/>
            </a:avLst>
          </a:prstGeom>
          <a:solidFill>
            <a:srgbClr val="E8A33D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驗況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可再售/不可再售判定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75604" y="396849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6240780" y="3566160"/>
            <a:ext cx="2553462" cy="1005840"/>
          </a:xfrm>
          <a:prstGeom prst="roundRect">
            <a:avLst>
              <a:gd name="adj" fmla="val 7273"/>
            </a:avLst>
          </a:prstGeom>
          <a:solidFill>
            <a:srgbClr val="E8A33D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退貨入庫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正航銷貨退回單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821674" y="396849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9086850" y="3566160"/>
            <a:ext cx="2553462" cy="1005840"/>
          </a:xfrm>
          <a:prstGeom prst="roundRect">
            <a:avLst>
              <a:gd name="adj" fmla="val 7273"/>
            </a:avLst>
          </a:prstGeom>
          <a:solidFill>
            <a:srgbClr val="E8A33D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異常轉單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狀況爭議→後勤行政 二線判定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16636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DF3E7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鐵律:實物動,系統就要動——揀錯補改單、破損報廢開調整單(後勤行政 覆核),庫存帳與實物永遠一致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 × 後勤行政|盤點流程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模組:庫存管理|循環盤點每週(倉儲)/月盤每月底(倉儲+後勤行政)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週盤:輪流抽盤儲位;月盤:全倉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560320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2825496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B3402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實盤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列印盤點表,實點填數(倉儲)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37176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5102352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差異比對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盤點數 vs 系統帳(後勤行政)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14032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7379208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查因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追單據:漏出貨/漏入庫/揀錯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90888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9656064" y="1554480"/>
            <a:ext cx="1984248" cy="1234440"/>
          </a:xfrm>
          <a:prstGeom prst="roundRect">
            <a:avLst>
              <a:gd name="adj" fmla="val 5926"/>
            </a:avLst>
          </a:prstGeom>
          <a:solidFill>
            <a:srgbClr val="1C5D99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調整覆核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調整單由開單者以外之人覆核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1091672" cy="1600200"/>
          </a:xfrm>
          <a:prstGeom prst="roundRect">
            <a:avLst>
              <a:gd name="adj" fmla="val 4571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差異處理原則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先查單據再調帳:80% 的差異是漏單或錯單,不是真的丟東西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查無原因才開調整單,一律備註原因;由開單者以外之人覆核(後勤行政 開立→負責人 覆核),不自開自核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月盤結果供 後勤行政 做月底庫存帳務核對,也是採購決策的數字基礎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行政協助|基本資料維護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模組:基本資料|頻率:每日(有需求即建)|代理:後勤行政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2553462" cy="1234440"/>
          </a:xfrm>
          <a:prstGeom prst="roundRect">
            <a:avLst>
              <a:gd name="adj" fmla="val 5926"/>
            </a:avLst>
          </a:prstGeom>
          <a:solidFill>
            <a:srgbClr val="E8A33D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接收建檔需求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後勤行政(供應商/商品)、電商營運(客戶/商品)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129534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3394710" y="1554480"/>
            <a:ext cx="2553462" cy="1234440"/>
          </a:xfrm>
          <a:prstGeom prst="roundRect">
            <a:avLst>
              <a:gd name="adj" fmla="val 5926"/>
            </a:avLst>
          </a:prstGeom>
          <a:solidFill>
            <a:srgbClr val="E8A33D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查重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先查是否已存在,避免一物多檔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75604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6240780" y="1554480"/>
            <a:ext cx="2553462" cy="1234440"/>
          </a:xfrm>
          <a:prstGeom prst="roundRect">
            <a:avLst>
              <a:gd name="adj" fmla="val 5926"/>
            </a:avLst>
          </a:prstGeom>
          <a:solidFill>
            <a:srgbClr val="E8A33D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依規則建檔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編號原則+命名規則(見建檔規則文件)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821674" y="2071116"/>
            <a:ext cx="237744" cy="201168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9086850" y="1554480"/>
            <a:ext cx="2553462" cy="1234440"/>
          </a:xfrm>
          <a:prstGeom prst="roundRect">
            <a:avLst>
              <a:gd name="adj" fmla="val 5926"/>
            </a:avLst>
          </a:prstGeom>
          <a:solidFill>
            <a:srgbClr val="E8A33D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回報完成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通知需求人核對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1091672" cy="1600200"/>
          </a:xfrm>
          <a:prstGeom prst="roundRect">
            <a:avLst>
              <a:gd name="adj" fmla="val 4571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為什麼建檔規則是全公司的地基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同一商品兩個編號→庫存分兩筆,盤點永遠對不平、採購重複下單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命名不一致→搜尋找不到,大家自行再建,惡性循環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停用不刪除:淘汰品項設「停用」,保留歷史單據可查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349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DF3E7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黃底提醒:編號原則與命名規則需由公司確認後填入「建檔規則文件」,本頁流程才算啟用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共同規範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四位使用者一體適用;違反規範造成的帳務差異,由主管協同當事人當週修正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當日輸入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實物有動作,系統當日就要有單據;不隔日補單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263640" y="155448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不回刪單據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打錯用作廢/沖銷/調整單更正並備註原因,保留軌跡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E7D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一人一帳號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自己的單據用自己的帳號開,權限異動找 負責人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63640" y="297180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4F8FB"/>
          </a:solidFill>
          <a:ln/>
        </p:spPr>
        <p:txBody>
          <a:bodyPr wrap="square" lIns="2286" tIns="2286" rIns="2286" bIns="2286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E8A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以系統為準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回覆顧客、對供應商、內部討論,數字一律先查正航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663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DF3E7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每月結帳前(月底最後 2 個工作日)為「單據清倉日」:四人各自清空未完成單據,後勤行政 確認後才進行月結對帳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5D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新人/接手者:一週上手路徑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對應「員工工作手冊」的一週交接計畫(D1–D5);本簡報是 D2–D3 的教材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5B6B7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1508760"/>
            <a:ext cx="10012680" cy="73152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/>
        </p:spPr>
        <p:txBody>
          <a:bodyPr wrap="square" lIns="1905" tIns="1905" rIns="1905" bIns="1905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開通帳號、認識模組地圖(本簡報 p.3–4)、找到所有檔案位置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404872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1C5D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404872"/>
            <a:ext cx="10012680" cy="73152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/>
        </p:spPr>
        <p:txBody>
          <a:bodyPr wrap="square" lIns="1905" tIns="1905" rIns="1905" bIns="1905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每日例行實作:跟著本簡報自己角色的流程頁,實際開單操作一輪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300984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1C5D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300984"/>
            <a:ext cx="10012680" cy="73152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/>
        </p:spPr>
        <p:txBody>
          <a:bodyPr wrap="square" lIns="1905" tIns="1905" rIns="1905" bIns="1905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每週/每月工作演練:用歷史單據跑對帳或盤點一次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4197096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2E7D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D4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4197096"/>
            <a:ext cx="10012680" cy="73152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/>
        </p:spPr>
        <p:txBody>
          <a:bodyPr wrap="square" lIns="1905" tIns="1905" rIns="1905" bIns="1905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對外窗口與進行中案件移交(供應商/物流/未結單據)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5093208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D5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5093208"/>
            <a:ext cx="10012680" cy="73152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/>
        </p:spPr>
        <p:txBody>
          <a:bodyPr wrap="square" lIns="1905" tIns="1905" rIns="1905" bIns="1905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獨立作業測試+主管驗收簽核(標準見手冊「一週交接計畫」分頁)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驗收通過標準:能獨立完成自己角色的全部「每日」流程,且知道異常時該找誰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讓系統記得,別讓一個人硬記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本簡報與「員工工作手冊」(Excel)配套使用,每季由 營運管理 檢視更新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正航操作細節疑問:先查本簡報 → 問該模組主要使用者 → 正航客服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2026-08-10T01:38:34Z</dcterms:created>
  <dcterms:modified xsi:type="dcterms:W3CDTF">2026-08-10T01:38:34Z</dcterms:modified>
</cp:coreProperties>
</file>