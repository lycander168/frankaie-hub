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pn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965960"/>
            <a:ext cx="53949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2222B"/>
                </a:solidFill>
                <a:latin typeface="Microsoft JhengHei"/>
                <a:ea typeface="Microsoft JhengHei"/>
              </a:rPr>
              <a:t>Wokyis 經銷報價分析</a:t>
            </a:r>
          </a:p>
          <a:p>
            <a:pPr algn="l"/>
            <a:r>
              <a:rPr sz="3400" b="1">
                <a:solidFill>
                  <a:srgbClr val="5B2D8E"/>
                </a:solidFill>
                <a:latin typeface="Microsoft JhengHei"/>
                <a:ea typeface="Microsoft JhengHei"/>
              </a:rPr>
              <a:t>台幣建議售價提案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94760"/>
            <a:ext cx="5394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6B6B78"/>
                </a:solidFill>
                <a:latin typeface="Microsoft JhengHei"/>
                <a:ea typeface="Microsoft JhengHei"/>
              </a:rPr>
              <a:t>報價單:wokyis Distribution Price 2606</a:t>
            </a:r>
          </a:p>
          <a:p>
            <a:pPr algn="l"/>
            <a:r>
              <a:rPr sz="1350" b="0">
                <a:solidFill>
                  <a:srgbClr val="6B6B78"/>
                </a:solidFill>
                <a:latin typeface="Microsoft JhengHei"/>
                <a:ea typeface="Microsoft JhengHei"/>
              </a:rPr>
              <a:t>供應商:Woworld Tech Limited(深圳)</a:t>
            </a:r>
          </a:p>
          <a:p>
            <a:pPr algn="l"/>
            <a:r>
              <a:rPr sz="1350" b="0">
                <a:solidFill>
                  <a:srgbClr val="6B6B78"/>
                </a:solidFill>
                <a:latin typeface="Microsoft JhengHei"/>
                <a:ea typeface="Microsoft JhengHei"/>
              </a:rPr>
              <a:t>報價日 2026-06-12|效期 30 天(至 2026-07-12)</a:t>
            </a:r>
          </a:p>
          <a:p>
            <a:pPr algn="l"/>
            <a:r>
              <a:rPr sz="1350" b="0">
                <a:solidFill>
                  <a:srgbClr val="6B6B78"/>
                </a:solidFill>
                <a:latin typeface="Microsoft JhengHei"/>
                <a:ea typeface="Microsoft JhengHei"/>
              </a:rPr>
              <a:t>分析日 2026-07-12|USD/TWD 即期 32.11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720840" y="1188720"/>
            <a:ext cx="48920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9732" y="1261872"/>
            <a:ext cx="4334256" cy="43342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20840" y="580644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B78"/>
                </a:solidFill>
                <a:latin typeface="Microsoft JhengHei"/>
                <a:ea typeface="Microsoft JhengHei"/>
              </a:rPr>
              <a:t>Wokyis M5 復古擴充座(開箱內容)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2222B"/>
                </a:solidFill>
                <a:latin typeface="Microsoft JhengHei"/>
                <a:ea typeface="Microsoft JhengHei"/>
              </a:rPr>
              <a:t>報價條件總覽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6B78"/>
                </a:solidFill>
                <a:latin typeface="Microsoft JhengHei"/>
                <a:ea typeface="Microsoft JhengHei"/>
              </a:rPr>
              <a:t>Woworld Tech Limited|wokyis.com|報價日 2026-06-12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676656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5029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條件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內容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貿易條件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EXW 深圳(出廠價,不含國際運費與保險)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幣別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USD 美元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數量階梯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200 pcs / 500 pcs 兩檔經銷價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付款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出貨前 100% T/T 電匯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保固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12 個月(僅主機板硬體)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維修運費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送修去程買方負擔、回程賣方負擔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效期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報價日起 30 天(至 2026-07-12,需儘速確認)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35240" y="13716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11F66"/>
                </a:solidFill>
                <a:latin typeface="Microsoft JhengHei"/>
                <a:ea typeface="Microsoft JhengHei"/>
              </a:rPr>
              <a:t>年度行銷回饋(Rebate)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35240" y="1783080"/>
          <a:ext cx="4023360" cy="1152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前一年採購額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次年回饋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達 USD 50,000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達 USD 100,000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5%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35240" y="3200400"/>
            <a:ext cx="4023360" cy="2651760"/>
          </a:xfrm>
          <a:prstGeom prst="rect">
            <a:avLst/>
          </a:prstGeom>
          <a:solidFill>
            <a:srgbClr val="F4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401568"/>
            <a:ext cx="35661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11F66"/>
                </a:solidFill>
                <a:latin typeface="Microsoft JhengHei"/>
                <a:ea typeface="Microsoft JhengHei"/>
              </a:rPr>
              <a:t>重點提醒</a:t>
            </a:r>
          </a:p>
          <a:p>
            <a:pPr algn="l"/>
            <a:r>
              <a:rPr sz="1150" b="0">
                <a:solidFill>
                  <a:srgbClr val="22222B"/>
                </a:solidFill>
                <a:latin typeface="Microsoft JhengHei"/>
                <a:ea typeface="Microsoft JhengHei"/>
              </a:rPr>
              <a:t>• EXW 條件:運費/保險/關稅/稅金</a:t>
            </a:r>
          </a:p>
          <a:p>
            <a:pPr algn="l"/>
            <a:r>
              <a:rPr sz="1150" b="0">
                <a:solidFill>
                  <a:srgbClr val="22222B"/>
                </a:solidFill>
                <a:latin typeface="Microsoft JhengHei"/>
                <a:ea typeface="Microsoft JhengHei"/>
              </a:rPr>
              <a:t>  皆由我方負擔,須計入落地成本</a:t>
            </a:r>
          </a:p>
          <a:p>
            <a:pPr algn="l"/>
            <a:r>
              <a:rPr sz="1150" b="0">
                <a:solidFill>
                  <a:srgbClr val="22222B"/>
                </a:solidFill>
                <a:latin typeface="Microsoft JhengHei"/>
                <a:ea typeface="Microsoft JhengHei"/>
              </a:rPr>
              <a:t>• 100% 前 T/T:資金壓力與交易風險</a:t>
            </a:r>
          </a:p>
          <a:p>
            <a:pPr algn="l"/>
            <a:r>
              <a:rPr sz="1150" b="0">
                <a:solidFill>
                  <a:srgbClr val="22222B"/>
                </a:solidFill>
                <a:latin typeface="Microsoft JhengHei"/>
                <a:ea typeface="Microsoft JhengHei"/>
              </a:rPr>
              <a:t>  偏高,可談 30/70 或信用狀</a:t>
            </a:r>
          </a:p>
          <a:p>
            <a:pPr algn="l"/>
            <a:r>
              <a:rPr sz="1150" b="0">
                <a:solidFill>
                  <a:srgbClr val="22222B"/>
                </a:solidFill>
                <a:latin typeface="Microsoft JhengHei"/>
                <a:ea typeface="Microsoft JhengHei"/>
              </a:rPr>
              <a:t>• 報價效期今日截止,若續談需</a:t>
            </a:r>
          </a:p>
          <a:p>
            <a:pPr algn="l"/>
            <a:r>
              <a:rPr sz="1150" b="0">
                <a:solidFill>
                  <a:srgbClr val="22222B"/>
                </a:solidFill>
                <a:latin typeface="Microsoft JhengHei"/>
                <a:ea typeface="Microsoft JhengHei"/>
              </a:rPr>
              <a:t>  請對方展延或重新確認價格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2222B"/>
                </a:solidFill>
                <a:latin typeface="Microsoft JhengHei"/>
                <a:ea typeface="Microsoft JhengHei"/>
              </a:rPr>
              <a:t>產品組合總覽(11 品項)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6B78"/>
                </a:solidFill>
                <a:latin typeface="Microsoft JhengHei"/>
                <a:ea typeface="Microsoft JhengHei"/>
              </a:rPr>
              <a:t>經銷價為 200pcs 檔|MSRP 為原廠美金建議售價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7830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5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514339"/>
            <a:ext cx="1636776" cy="15433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32004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2222B"/>
                </a:solidFill>
                <a:latin typeface="Microsoft JhengHei"/>
                <a:ea typeface="Microsoft JhengHei"/>
              </a:rPr>
              <a:t>M5 10Gbps</a:t>
            </a:r>
          </a:p>
          <a:p>
            <a:pPr algn="ctr"/>
            <a:r>
              <a:rPr sz="950" b="0">
                <a:solidFill>
                  <a:srgbClr val="6B6B78"/>
                </a:solidFill>
                <a:latin typeface="Microsoft JhengHei"/>
                <a:ea typeface="Microsoft JhengHei"/>
              </a:rPr>
              <a:t>US$65|MSRP $169-189</a:t>
            </a:r>
          </a:p>
        </p:txBody>
      </p:sp>
      <p:sp>
        <p:nvSpPr>
          <p:cNvPr id="8" name="Rectangle 7"/>
          <p:cNvSpPr/>
          <p:nvPr/>
        </p:nvSpPr>
        <p:spPr>
          <a:xfrm>
            <a:off x="2322576" y="1417320"/>
            <a:ext cx="17830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5_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1520229"/>
            <a:ext cx="1636776" cy="15315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22576" y="32004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2222B"/>
                </a:solidFill>
                <a:latin typeface="Microsoft JhengHei"/>
                <a:ea typeface="Microsoft JhengHei"/>
              </a:rPr>
              <a:t>M5 80Gbps</a:t>
            </a:r>
          </a:p>
          <a:p>
            <a:pPr algn="ctr"/>
            <a:r>
              <a:rPr sz="950" b="0">
                <a:solidFill>
                  <a:srgbClr val="6B6B78"/>
                </a:solidFill>
                <a:latin typeface="Microsoft JhengHei"/>
                <a:ea typeface="Microsoft JhengHei"/>
              </a:rPr>
              <a:t>US$139|MSRP $339-369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3672" y="1417320"/>
            <a:ext cx="17830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824" y="1516715"/>
            <a:ext cx="1636776" cy="153856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33672" y="32004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2222B"/>
                </a:solidFill>
                <a:latin typeface="Microsoft JhengHei"/>
                <a:ea typeface="Microsoft JhengHei"/>
              </a:rPr>
              <a:t>i5 10Gbps</a:t>
            </a:r>
          </a:p>
          <a:p>
            <a:pPr algn="ctr"/>
            <a:r>
              <a:rPr sz="950" b="0">
                <a:solidFill>
                  <a:srgbClr val="6B6B78"/>
                </a:solidFill>
                <a:latin typeface="Microsoft JhengHei"/>
                <a:ea typeface="Microsoft JhengHei"/>
              </a:rPr>
              <a:t>US$67|MSRP $169-189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417320"/>
            <a:ext cx="17830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516715"/>
            <a:ext cx="1636776" cy="153856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44768" y="32004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2222B"/>
                </a:solidFill>
                <a:latin typeface="Microsoft JhengHei"/>
                <a:ea typeface="Microsoft JhengHei"/>
              </a:rPr>
              <a:t>i5 80Gbps</a:t>
            </a:r>
          </a:p>
          <a:p>
            <a:pPr algn="ctr"/>
            <a:r>
              <a:rPr sz="950" b="0">
                <a:solidFill>
                  <a:srgbClr val="6B6B78"/>
                </a:solidFill>
                <a:latin typeface="Microsoft JhengHei"/>
                <a:ea typeface="Microsoft JhengHei"/>
              </a:rPr>
              <a:t>US$141|MSRP $339-369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5864" y="1417320"/>
            <a:ext cx="17830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3448" y="1490472"/>
            <a:ext cx="1047912" cy="15910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55864" y="32004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2222B"/>
                </a:solidFill>
                <a:latin typeface="Microsoft JhengHei"/>
                <a:ea typeface="Microsoft JhengHei"/>
              </a:rPr>
              <a:t>A1 SSD 外接盒</a:t>
            </a:r>
          </a:p>
          <a:p>
            <a:pPr algn="ctr"/>
            <a:r>
              <a:rPr sz="950" b="0">
                <a:solidFill>
                  <a:srgbClr val="6B6B78"/>
                </a:solidFill>
                <a:latin typeface="Microsoft JhengHei"/>
                <a:ea typeface="Microsoft JhengHei"/>
              </a:rPr>
              <a:t>US$19|MSRP $49-59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0" y="1417320"/>
            <a:ext cx="17830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u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0112" y="1552179"/>
            <a:ext cx="1636776" cy="146764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966960" y="32004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2222B"/>
                </a:solidFill>
                <a:latin typeface="Microsoft JhengHei"/>
                <a:ea typeface="Microsoft JhengHei"/>
              </a:rPr>
              <a:t>MU4 USB4 外接盒</a:t>
            </a:r>
          </a:p>
          <a:p>
            <a:pPr algn="ctr"/>
            <a:r>
              <a:rPr sz="950" b="0">
                <a:solidFill>
                  <a:srgbClr val="6B6B78"/>
                </a:solidFill>
                <a:latin typeface="Microsoft JhengHei"/>
                <a:ea typeface="Microsoft JhengHei"/>
              </a:rPr>
              <a:t>US$36|MSRP $99-109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023360"/>
            <a:ext cx="17830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mu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4158219"/>
            <a:ext cx="1636776" cy="146764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11480" y="580644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2222B"/>
                </a:solidFill>
                <a:latin typeface="Microsoft JhengHei"/>
                <a:ea typeface="Microsoft JhengHei"/>
              </a:rPr>
              <a:t>MT5 TB5 外接盒</a:t>
            </a:r>
          </a:p>
          <a:p>
            <a:pPr algn="ctr"/>
            <a:r>
              <a:rPr sz="950" b="0">
                <a:solidFill>
                  <a:srgbClr val="6B6B78"/>
                </a:solidFill>
                <a:latin typeface="Microsoft JhengHei"/>
                <a:ea typeface="Microsoft JhengHei"/>
              </a:rPr>
              <a:t>US$91|MSRP $189-219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22576" y="4023360"/>
            <a:ext cx="17830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ucc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8588" y="4096512"/>
            <a:ext cx="1591056" cy="159105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322576" y="580644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2222B"/>
                </a:solidFill>
                <a:latin typeface="Microsoft JhengHei"/>
                <a:ea typeface="Microsoft JhengHei"/>
              </a:rPr>
              <a:t>UCC01 240W 線</a:t>
            </a:r>
          </a:p>
          <a:p>
            <a:pPr algn="ctr"/>
            <a:r>
              <a:rPr sz="950" b="0">
                <a:solidFill>
                  <a:srgbClr val="6B6B78"/>
                </a:solidFill>
                <a:latin typeface="Microsoft JhengHei"/>
                <a:ea typeface="Microsoft JhengHei"/>
              </a:rPr>
              <a:t>US$3.0|MSRP $19.9-24.9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33672" y="4023360"/>
            <a:ext cx="17830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tbt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5395" y="4096512"/>
            <a:ext cx="1239633" cy="159105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233672" y="580644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2222B"/>
                </a:solidFill>
                <a:latin typeface="Microsoft JhengHei"/>
                <a:ea typeface="Microsoft JhengHei"/>
              </a:rPr>
              <a:t>TBT5-1m TB5 線</a:t>
            </a:r>
          </a:p>
          <a:p>
            <a:pPr algn="ctr"/>
            <a:r>
              <a:rPr sz="950" b="0">
                <a:solidFill>
                  <a:srgbClr val="6B6B78"/>
                </a:solidFill>
                <a:latin typeface="Microsoft JhengHei"/>
                <a:ea typeface="Microsoft JhengHei"/>
              </a:rPr>
              <a:t>US$12.3|MSRP $29.9-39.9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44768" y="4023360"/>
            <a:ext cx="17830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4167936"/>
            <a:ext cx="1636776" cy="14482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144768" y="580644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2222B"/>
                </a:solidFill>
                <a:latin typeface="Microsoft JhengHei"/>
                <a:ea typeface="Microsoft JhengHei"/>
              </a:rPr>
              <a:t>F1 磁吸風扇</a:t>
            </a:r>
          </a:p>
          <a:p>
            <a:pPr algn="ctr"/>
            <a:r>
              <a:rPr sz="950" b="0">
                <a:solidFill>
                  <a:srgbClr val="6B6B78"/>
                </a:solidFill>
                <a:latin typeface="Microsoft JhengHei"/>
                <a:ea typeface="Microsoft JhengHei"/>
              </a:rPr>
              <a:t>US$5.5|MSRP $19.9-24.9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55864" y="4023360"/>
            <a:ext cx="17830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g3s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9016" y="4380093"/>
            <a:ext cx="1636776" cy="102389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055864" y="580644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2222B"/>
                </a:solidFill>
                <a:latin typeface="Microsoft JhengHei"/>
                <a:ea typeface="Microsoft JhengHei"/>
              </a:rPr>
              <a:t>G3S 透明殼</a:t>
            </a:r>
          </a:p>
          <a:p>
            <a:pPr algn="ctr"/>
            <a:r>
              <a:rPr sz="950" b="0">
                <a:solidFill>
                  <a:srgbClr val="6B6B78"/>
                </a:solidFill>
                <a:latin typeface="Microsoft JhengHei"/>
                <a:ea typeface="Microsoft JhengHei"/>
              </a:rPr>
              <a:t>US$7.0|MSRP $29-49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2222B"/>
                </a:solidFill>
                <a:latin typeface="Microsoft JhengHei"/>
                <a:ea typeface="Microsoft JhengHei"/>
              </a:rPr>
              <a:t>擴充座系列|台幣定價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6B78"/>
                </a:solidFill>
                <a:latin typeface="Microsoft JhengHei"/>
                <a:ea typeface="Microsoft JhengHei"/>
              </a:rPr>
              <a:t>Mac mini M4 復古擴充座(主力品項)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286000" cy="1463039"/>
          </a:xfrm>
          <a:prstGeom prst="rect">
            <a:avLst/>
          </a:prstGeom>
          <a:solidFill>
            <a:srgbClr val="FFFFFF"/>
          </a:solidFill>
          <a:ln w="9525">
            <a:solidFill>
              <a:srgbClr val="DD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5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86" y="1490472"/>
            <a:ext cx="1396468" cy="13167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3108959"/>
            <a:ext cx="2286000" cy="1463039"/>
          </a:xfrm>
          <a:prstGeom prst="rect">
            <a:avLst/>
          </a:prstGeom>
          <a:solidFill>
            <a:srgbClr val="FFFFFF"/>
          </a:solidFill>
          <a:ln w="9525">
            <a:solidFill>
              <a:srgbClr val="DD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5_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315" y="3182111"/>
            <a:ext cx="1407210" cy="13167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4800598"/>
            <a:ext cx="2286000" cy="1463039"/>
          </a:xfrm>
          <a:prstGeom prst="rect">
            <a:avLst/>
          </a:prstGeom>
          <a:solidFill>
            <a:srgbClr val="FFFFFF"/>
          </a:solidFill>
          <a:ln w="9525">
            <a:solidFill>
              <a:srgbClr val="DD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529" y="4873750"/>
            <a:ext cx="1400781" cy="1316735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063240" y="1463040"/>
          <a:ext cx="859536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  <a:gridCol w="1143000"/>
                <a:gridCol w="1325880"/>
                <a:gridCol w="1463040"/>
                <a:gridCol w="1051560"/>
                <a:gridCol w="1097280"/>
                <a:gridCol w="91440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型號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經銷價
(200p)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落地成本
(NT$)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建議售價
(NT$含稅)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成本佔比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零售毛利率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BE-ACOS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M5 10Gbps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US$65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2,303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411F66"/>
                          </a:solidFill>
                          <a:latin typeface="Microsoft JhengHei"/>
                          <a:ea typeface="Microsoft JhengHei"/>
                        </a:rPr>
                        <a:t>5,990</a:t>
                      </a:r>
                    </a:p>
                  </a:txBody>
                  <a:tcPr marL="54864" marR="54864" marT="18288" marB="18288" anchor="ctr">
                    <a:solidFill>
                      <a:srgbClr val="F4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38%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62%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46%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M5 80Gbps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US$139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4,805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411F66"/>
                          </a:solidFill>
                          <a:latin typeface="Microsoft JhengHei"/>
                          <a:ea typeface="Microsoft JhengHei"/>
                        </a:rPr>
                        <a:t>11,990</a:t>
                      </a:r>
                    </a:p>
                  </a:txBody>
                  <a:tcPr marL="54864" marR="54864" marT="18288" marB="18288" anchor="ctr">
                    <a:solidFill>
                      <a:srgbClr val="F4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40%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60%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45%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i5 10Gbps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2,370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411F66"/>
                          </a:solidFill>
                          <a:latin typeface="Microsoft JhengHei"/>
                          <a:ea typeface="Microsoft JhengHei"/>
                        </a:rPr>
                        <a:t>5,990</a:t>
                      </a:r>
                    </a:p>
                  </a:txBody>
                  <a:tcPr marL="54864" marR="54864" marT="18288" marB="18288" anchor="ctr">
                    <a:solidFill>
                      <a:srgbClr val="F4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40%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60%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45%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i5 80Gbps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US$141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4,872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411F66"/>
                          </a:solidFill>
                          <a:latin typeface="Microsoft JhengHei"/>
                          <a:ea typeface="Microsoft JhengHei"/>
                        </a:rPr>
                        <a:t>11,990</a:t>
                      </a:r>
                    </a:p>
                  </a:txBody>
                  <a:tcPr marL="54864" marR="54864" marT="18288" marB="18288" anchor="ctr">
                    <a:solidFill>
                      <a:srgbClr val="F4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41%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59%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45%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063240" y="4069080"/>
            <a:ext cx="8595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78"/>
                </a:solidFill>
                <a:latin typeface="Microsoft JhengHei"/>
                <a:ea typeface="Microsoft JhengHei"/>
              </a:rPr>
              <a:t>落地成本=(EXW×32.2+空運100/件)×1.05;建議售價對齊原廠 MSRP 低段換算(NT$5,990/11,990),成本佔比 38-41%,符合通路 40-50% 慣例,留有 MAP 與促銷空間。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2222B"/>
                </a:solidFill>
                <a:latin typeface="Microsoft JhengHei"/>
                <a:ea typeface="Microsoft JhengHei"/>
              </a:rPr>
              <a:t>儲存系列|台幣定價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6B78"/>
                </a:solidFill>
                <a:latin typeface="Microsoft JhengHei"/>
                <a:ea typeface="Microsoft JhengHei"/>
              </a:rPr>
              <a:t>M.2 NVMe SSD 外接盒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2860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132" y="1490472"/>
            <a:ext cx="957575" cy="145389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3246120"/>
            <a:ext cx="22860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u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97" y="3319272"/>
            <a:ext cx="1621445" cy="1453896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063240" y="1463040"/>
          <a:ext cx="8595360" cy="190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  <a:gridCol w="1143000"/>
                <a:gridCol w="1325880"/>
                <a:gridCol w="1463040"/>
                <a:gridCol w="1051560"/>
                <a:gridCol w="1097280"/>
                <a:gridCol w="91440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型號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經銷價
(200p)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落地成本
(NT$)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建議售價
(NT$含稅)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成本佔比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零售毛利率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BE-ACOS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A1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674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411F66"/>
                          </a:solidFill>
                          <a:latin typeface="Microsoft JhengHei"/>
                          <a:ea typeface="Microsoft JhengHei"/>
                        </a:rPr>
                        <a:t>1,690</a:t>
                      </a:r>
                    </a:p>
                  </a:txBody>
                  <a:tcPr marL="54864" marR="54864" marT="18288" marB="18288" anchor="ctr">
                    <a:solidFill>
                      <a:srgbClr val="F4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40%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60%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43%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MU4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US$36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1,249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411F66"/>
                          </a:solidFill>
                          <a:latin typeface="Microsoft JhengHei"/>
                          <a:ea typeface="Microsoft JhengHei"/>
                        </a:rPr>
                        <a:t>3,290</a:t>
                      </a:r>
                    </a:p>
                  </a:txBody>
                  <a:tcPr marL="54864" marR="54864" marT="18288" marB="18288" anchor="ctr">
                    <a:solidFill>
                      <a:srgbClr val="F4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38%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62%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46%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MT5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3,108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411F66"/>
                          </a:solidFill>
                          <a:latin typeface="Microsoft JhengHei"/>
                          <a:ea typeface="Microsoft JhengHei"/>
                        </a:rPr>
                        <a:t>6,990</a:t>
                      </a:r>
                    </a:p>
                  </a:txBody>
                  <a:tcPr marL="54864" marR="54864" marT="18288" marB="18288" anchor="ctr">
                    <a:solidFill>
                      <a:srgbClr val="F4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44%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56%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41%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063240" y="3593592"/>
            <a:ext cx="8595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78"/>
                </a:solidFill>
                <a:latin typeface="Microsoft JhengHei"/>
                <a:ea typeface="Microsoft JhengHei"/>
              </a:rPr>
              <a:t>MT5 成本佔比 44.5% 為全系列最高,若通路要求 55% 折扣需上調至 NT$7,490 或爭取 500pcs 價;A1/MU4 定價低於原廠 MSRP 上限換算,具市場競爭力。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2222B"/>
                </a:solidFill>
                <a:latin typeface="Microsoft JhengHei"/>
                <a:ea typeface="Microsoft JhengHei"/>
              </a:rPr>
              <a:t>線材與配件|台幣定價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6B78"/>
                </a:solidFill>
                <a:latin typeface="Microsoft JhengHei"/>
                <a:ea typeface="Microsoft JhengHei"/>
              </a:rPr>
              <a:t>充電線/Thunderbolt 5/散熱/保護殼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2070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cc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732788"/>
            <a:ext cx="1060704" cy="106070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73936" y="1554480"/>
            <a:ext cx="12070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bt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299" y="1627632"/>
            <a:ext cx="990281" cy="12710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3108960"/>
            <a:ext cx="12070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348368"/>
            <a:ext cx="1060704" cy="93850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773936" y="3108960"/>
            <a:ext cx="12070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3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088" y="3485855"/>
            <a:ext cx="1060704" cy="663529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063240" y="1463040"/>
          <a:ext cx="859536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  <a:gridCol w="1143000"/>
                <a:gridCol w="1325880"/>
                <a:gridCol w="1463040"/>
                <a:gridCol w="1051560"/>
                <a:gridCol w="1097280"/>
                <a:gridCol w="91440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型號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經銷價
(200p)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落地成本
(NT$)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建議售價
(NT$含稅)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成本佔比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零售毛利率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BE-ACOS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UCC01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117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411F66"/>
                          </a:solidFill>
                          <a:latin typeface="Microsoft JhengHei"/>
                          <a:ea typeface="Microsoft JhengHei"/>
                        </a:rPr>
                        <a:t>690</a:t>
                      </a:r>
                    </a:p>
                  </a:txBody>
                  <a:tcPr marL="54864" marR="54864" marT="18288" marB="18288" anchor="ctr">
                    <a:solidFill>
                      <a:srgbClr val="F4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17%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83%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60%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TBT5-1m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US$12.3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432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411F66"/>
                          </a:solidFill>
                          <a:latin typeface="Microsoft JhengHei"/>
                          <a:ea typeface="Microsoft JhengHei"/>
                        </a:rPr>
                        <a:t>1,190</a:t>
                      </a:r>
                    </a:p>
                  </a:txBody>
                  <a:tcPr marL="54864" marR="54864" marT="18288" marB="18288" anchor="ctr">
                    <a:solidFill>
                      <a:srgbClr val="F4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36%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64%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45%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F1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US$5.5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202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411F66"/>
                          </a:solidFill>
                          <a:latin typeface="Microsoft JhengHei"/>
                          <a:ea typeface="Microsoft JhengHei"/>
                        </a:rPr>
                        <a:t>690</a:t>
                      </a:r>
                    </a:p>
                  </a:txBody>
                  <a:tcPr marL="54864" marR="54864" marT="18288" marB="18288" anchor="ctr">
                    <a:solidFill>
                      <a:srgbClr val="F4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29%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71%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48%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G3S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US$7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252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411F66"/>
                          </a:solidFill>
                          <a:latin typeface="Microsoft JhengHei"/>
                          <a:ea typeface="Microsoft JhengHei"/>
                        </a:rPr>
                        <a:t>990</a:t>
                      </a:r>
                    </a:p>
                  </a:txBody>
                  <a:tcPr marL="54864" marR="54864" marT="18288" marB="18288" anchor="ctr">
                    <a:solidFill>
                      <a:srgbClr val="F4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25%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75%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54%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063240" y="4069080"/>
            <a:ext cx="8595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78"/>
                </a:solidFill>
                <a:latin typeface="Microsoft JhengHei"/>
                <a:ea typeface="Microsoft JhengHei"/>
              </a:rPr>
              <a:t>配件毛利最佳(64-83%),適合做加購/組合銷售拉高客單;UCC01 也可下探 NT$590 做導流品仍有 80% 毛利。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2222B"/>
                </a:solidFill>
                <a:latin typeface="Microsoft JhengHei"/>
                <a:ea typeface="Microsoft JhengHei"/>
              </a:rPr>
              <a:t>台幣建議售價總表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6B78"/>
                </a:solidFill>
                <a:latin typeface="Microsoft JhengHei"/>
                <a:ea typeface="Microsoft JhengHei"/>
              </a:rPr>
              <a:t>匯率:成本 32.2/參考即期 32.11(2026-07-12)|落地成本含空運攤提與 5% 營業稅、關稅以 0% 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201400" cy="4608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/>
                <a:gridCol w="1691640"/>
                <a:gridCol w="1417320"/>
                <a:gridCol w="1417320"/>
                <a:gridCol w="1325880"/>
                <a:gridCol w="2011680"/>
                <a:gridCol w="1920240"/>
                <a:gridCol w="10058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型號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經銷價 200p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經銷價 500p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落地成本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原廠MSRP換算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建議售價(含稅)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零售毛利率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M5 10Gbps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US$65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US$63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2,303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5,427-6,069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411F66"/>
                          </a:solidFill>
                          <a:latin typeface="Microsoft JhengHei"/>
                          <a:ea typeface="Microsoft JhengHei"/>
                        </a:rPr>
                        <a:t>NT$5,990</a:t>
                      </a:r>
                    </a:p>
                  </a:txBody>
                  <a:tcPr marL="54864" marR="54864" marT="18288" marB="18288" anchor="ctr">
                    <a:solidFill>
                      <a:srgbClr val="F4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62%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M5 80Gbps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US$139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US$137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4,805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10,885-11,849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411F66"/>
                          </a:solidFill>
                          <a:latin typeface="Microsoft JhengHei"/>
                          <a:ea typeface="Microsoft JhengHei"/>
                        </a:rPr>
                        <a:t>NT$11,990</a:t>
                      </a:r>
                    </a:p>
                  </a:txBody>
                  <a:tcPr marL="54864" marR="54864" marT="18288" marB="18288" anchor="ctr">
                    <a:solidFill>
                      <a:srgbClr val="F4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60%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A1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US$18.5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674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1,573-1,894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411F66"/>
                          </a:solidFill>
                          <a:latin typeface="Microsoft JhengHei"/>
                          <a:ea typeface="Microsoft JhengHei"/>
                        </a:rPr>
                        <a:t>NT$1,690</a:t>
                      </a:r>
                    </a:p>
                  </a:txBody>
                  <a:tcPr marL="54864" marR="54864" marT="18288" marB="18288" anchor="ctr">
                    <a:solidFill>
                      <a:srgbClr val="F4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60%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UCC01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US$3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US$2.7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117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639-800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411F66"/>
                          </a:solidFill>
                          <a:latin typeface="Microsoft JhengHei"/>
                          <a:ea typeface="Microsoft JhengHei"/>
                        </a:rPr>
                        <a:t>NT$690</a:t>
                      </a:r>
                    </a:p>
                  </a:txBody>
                  <a:tcPr marL="54864" marR="54864" marT="18288" marB="18288" anchor="ctr">
                    <a:solidFill>
                      <a:srgbClr val="F4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83%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TBT5-1m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US$12.3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US$11.9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432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960-1,281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411F66"/>
                          </a:solidFill>
                          <a:latin typeface="Microsoft JhengHei"/>
                          <a:ea typeface="Microsoft JhengHei"/>
                        </a:rPr>
                        <a:t>NT$1,190</a:t>
                      </a:r>
                    </a:p>
                  </a:txBody>
                  <a:tcPr marL="54864" marR="54864" marT="18288" marB="18288" anchor="ctr">
                    <a:solidFill>
                      <a:srgbClr val="F4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64%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i5 10Gbps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US$67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US$65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2,370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5,427-6,069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411F66"/>
                          </a:solidFill>
                          <a:latin typeface="Microsoft JhengHei"/>
                          <a:ea typeface="Microsoft JhengHei"/>
                        </a:rPr>
                        <a:t>NT$5,990</a:t>
                      </a:r>
                    </a:p>
                  </a:txBody>
                  <a:tcPr marL="54864" marR="54864" marT="18288" marB="18288" anchor="ctr">
                    <a:solidFill>
                      <a:srgbClr val="F4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60%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i5 80Gbps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US$141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US$139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4,872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10,885-11,849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411F66"/>
                          </a:solidFill>
                          <a:latin typeface="Microsoft JhengHei"/>
                          <a:ea typeface="Microsoft JhengHei"/>
                        </a:rPr>
                        <a:t>NT$11,990</a:t>
                      </a:r>
                    </a:p>
                  </a:txBody>
                  <a:tcPr marL="54864" marR="54864" marT="18288" marB="18288" anchor="ctr">
                    <a:solidFill>
                      <a:srgbClr val="F4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59%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MU4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US$36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US$35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1,249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3,179-3,500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411F66"/>
                          </a:solidFill>
                          <a:latin typeface="Microsoft JhengHei"/>
                          <a:ea typeface="Microsoft JhengHei"/>
                        </a:rPr>
                        <a:t>NT$3,290</a:t>
                      </a:r>
                    </a:p>
                  </a:txBody>
                  <a:tcPr marL="54864" marR="54864" marT="18288" marB="18288" anchor="ctr">
                    <a:solidFill>
                      <a:srgbClr val="F4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62%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MT5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US$90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3,108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6,069-7,032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411F66"/>
                          </a:solidFill>
                          <a:latin typeface="Microsoft JhengHei"/>
                          <a:ea typeface="Microsoft JhengHei"/>
                        </a:rPr>
                        <a:t>NT$6,990</a:t>
                      </a:r>
                    </a:p>
                  </a:txBody>
                  <a:tcPr marL="54864" marR="54864" marT="18288" marB="18288" anchor="ctr">
                    <a:solidFill>
                      <a:srgbClr val="F4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56%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F1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US$5.5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US$5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202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639-800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411F66"/>
                          </a:solidFill>
                          <a:latin typeface="Microsoft JhengHei"/>
                          <a:ea typeface="Microsoft JhengHei"/>
                        </a:rPr>
                        <a:t>NT$690</a:t>
                      </a:r>
                    </a:p>
                  </a:txBody>
                  <a:tcPr marL="54864" marR="54864" marT="18288" marB="18288" anchor="ctr">
                    <a:solidFill>
                      <a:srgbClr val="F4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71%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G3S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US$6.5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252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931-1,573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411F66"/>
                          </a:solidFill>
                          <a:latin typeface="Microsoft JhengHei"/>
                          <a:ea typeface="Microsoft JhengHei"/>
                        </a:rPr>
                        <a:t>NT$990</a:t>
                      </a:r>
                    </a:p>
                  </a:txBody>
                  <a:tcPr marL="54864" marR="54864" marT="18288" marB="18288" anchor="ctr">
                    <a:solidFill>
                      <a:srgbClr val="F4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75%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117336"/>
            <a:ext cx="11201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78"/>
                </a:solidFill>
                <a:latin typeface="Microsoft JhengHei"/>
                <a:ea typeface="Microsoft JhengHei"/>
              </a:rPr>
              <a:t>尾數採台灣通路 x90 慣例;建議售價落在原廠 USD MSRP 低~中段換算,兼顧品牌全球一致性與在地價格帶。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2222B"/>
                </a:solidFill>
                <a:latin typeface="Microsoft JhengHei"/>
                <a:ea typeface="Microsoft JhengHei"/>
              </a:rPr>
              <a:t>三情境試算與定價建議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6B78"/>
                </a:solidFill>
                <a:latin typeface="Microsoft JhengHei"/>
                <a:ea typeface="Microsoft JhengHei"/>
              </a:rPr>
              <a:t>以主力 M5 系列(建議售價)試算;電商:平台 12%+金流 2%+物流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11F66"/>
                </a:solidFill>
                <a:latin typeface="Microsoft JhengHei"/>
                <a:ea typeface="Microsoft JhengHei"/>
              </a:rPr>
              <a:t>M5 10Gbps|建議售價 NT$5,990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37360"/>
          <a:ext cx="539496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868680"/>
                <a:gridCol w="868680"/>
                <a:gridCol w="868680"/>
                <a:gridCol w="1005840"/>
                <a:gridCol w="86868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情境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匯率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廣告比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退貨率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淨利/件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淨利率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保守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32.7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20%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1,237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21%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基準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32.2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12%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3%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1,870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31%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樂觀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31.7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2,277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38%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63640" y="13258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11F66"/>
                </a:solidFill>
                <a:latin typeface="Microsoft JhengHei"/>
                <a:ea typeface="Microsoft JhengHei"/>
              </a:rPr>
              <a:t>M5 80Gbps|建議售價 NT$11,990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1737360"/>
          <a:ext cx="539496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868680"/>
                <a:gridCol w="868680"/>
                <a:gridCol w="868680"/>
                <a:gridCol w="1005840"/>
                <a:gridCol w="86868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情境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匯率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廣告比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退貨率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淨利/件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淨利率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保守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32.7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20%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2,356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20%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基準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32.2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12%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3%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3,628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30%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樂觀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31.7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4,374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36%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3611880"/>
            <a:ext cx="11201400" cy="2743200"/>
          </a:xfrm>
          <a:prstGeom prst="rect">
            <a:avLst/>
          </a:prstGeom>
          <a:solidFill>
            <a:srgbClr val="F4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40480"/>
            <a:ext cx="10698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411F66"/>
                </a:solidFill>
                <a:latin typeface="Microsoft JhengHei"/>
                <a:ea typeface="Microsoft JhengHei"/>
              </a:rPr>
              <a:t>定價建議</a:t>
            </a:r>
          </a:p>
          <a:p>
            <a:pPr algn="l"/>
            <a:r>
              <a:rPr sz="1200" b="0">
                <a:solidFill>
                  <a:srgbClr val="22222B"/>
                </a:solidFill>
                <a:latin typeface="Microsoft JhengHei"/>
                <a:ea typeface="Microsoft JhengHei"/>
              </a:rPr>
              <a:t>1. 主力擴充座 M5/i5:10Gbps 定 NT$5,990、80Gbps 定 NT$11,990 —— 基準情境淨利率 30%,保守情境仍有 20%,價格帶對齊原廠美金 MSRP 低段,無破盤風險。</a:t>
            </a:r>
          </a:p>
          <a:p>
            <a:pPr algn="l"/>
            <a:r>
              <a:rPr sz="1200" b="0">
                <a:solidFill>
                  <a:srgbClr val="22222B"/>
                </a:solidFill>
                <a:latin typeface="Microsoft JhengHei"/>
                <a:ea typeface="Microsoft JhengHei"/>
              </a:rPr>
              <a:t>2. MT5(TB5 外接盒)NT$6,990 成本佔比 44.5% 偏高:優先爭取 500pcs 價(US$90)或以年度回饋 2-5% 攤回;若通路折扣壓到 55%,上調至 NT$7,490。</a:t>
            </a:r>
          </a:p>
          <a:p>
            <a:pPr algn="l"/>
            <a:r>
              <a:rPr sz="1200" b="0">
                <a:solidFill>
                  <a:srgbClr val="22222B"/>
                </a:solidFill>
                <a:latin typeface="Microsoft JhengHei"/>
                <a:ea typeface="Microsoft JhengHei"/>
              </a:rPr>
              <a:t>3. 配件群(線材/風扇/保護殼)毛利 64-83%,建議與主機做組合價(例:M5+F1+UCC01 組合折 NT$500),拉高客單同時去化配件。</a:t>
            </a:r>
          </a:p>
          <a:p>
            <a:pPr algn="l"/>
            <a:r>
              <a:rPr sz="1200" b="0">
                <a:solidFill>
                  <a:srgbClr val="22222B"/>
                </a:solidFill>
                <a:latin typeface="Microsoft JhengHei"/>
                <a:ea typeface="Microsoft JhengHei"/>
              </a:rPr>
              <a:t>4. 首單建議 200pcs 檔試水溫;年採購達 USD 50k 觸發 2% 回饋,規劃全年 forecast 後可直接談 500pcs 價差(擴充座每台省 US$2)。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2222B"/>
                </a:solidFill>
                <a:latin typeface="Microsoft JhengHei"/>
                <a:ea typeface="Microsoft JhengHei"/>
              </a:rPr>
              <a:t>假設與待確認事項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11201399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206240"/>
                <a:gridCol w="1188720"/>
                <a:gridCol w="3977639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本次採用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性質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待辦</a:t>
                      </a:r>
                    </a:p>
                  </a:txBody>
                  <a:tcPr marL="54864" marR="54864" marT="18288" marB="18288" anchor="ctr">
                    <a:solidFill>
                      <a:srgbClr val="5B2D8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匯率 USD/TWD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成本 32.2(即期 32.11,2026-07-12)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【假設】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下單日以銀行賣出價鎖定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國際運費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空運 NT$85/kg:擴充座 100/件、外接盒 30/件、配件 15/件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【假設】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取得 forwarder 實際報價;量大改海運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關稅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ICT 週邊以 0% 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【需查證】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以正確稅則號列向報關行確認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營業稅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進口 5% 計入落地成本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確定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平台費用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平台抽成 12%+金流 2%+物流 60-80/件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【假設】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依實際通路(momo/PChome/蝦皮/官網)修正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報價效期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至 2026-07-12(今日)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風險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立即請 Wokyis 展延或重新報價</a:t>
                      </a:r>
                    </a:p>
                  </a:txBody>
                  <a:tcPr marL="54864" marR="54864" marT="18288" marB="18288" anchor="ctr">
                    <a:solidFill>
                      <a:srgbClr val="FA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台灣代理條件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獨家/區域授權、MAP 價格管理未載明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【需查證】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</a:rPr>
                        <a:t>簽授權協議前釐清(含回饋細則)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806440"/>
            <a:ext cx="11201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6B78"/>
                </a:solidFill>
                <a:latin typeface="Microsoft JhengHei"/>
                <a:ea typeface="Microsoft JhengHei"/>
              </a:rPr>
              <a:t>方法論:frankaie-research-hub / pricing-calculator|內部折扣基準:Lycander 現行通路價目(成本佔 MSRP 40-50%)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