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12801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097280"/>
            <a:ext cx="3840480" cy="3840480"/>
          </a:xfrm>
          <a:prstGeom prst="ellipse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2377440" cy="384048"/>
          </a:xfrm>
          <a:prstGeom prst="round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會員招募中 ｜ 2026 暑假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Microsoft JhengHei"/>
              </a:rPr>
              <a:t>官網全站活動企劃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CFDAEC"/>
                </a:solidFill>
                <a:latin typeface="Microsoft JhengHei"/>
              </a:rPr>
              <a:t>Wokyis 關聯配件　×　LYCANDER 暑假活動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上線日期：2026 / 7 / 15　｜　暑假主檔 7/15–8/31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7C4DA"/>
                </a:solidFill>
                <a:latin typeface="Microsoft JhengHei"/>
              </a:rPr>
              <a:t>交付對象：行銷公司　｜　炫輝國際 Shinetech / LYCANDER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7A29"/>
                </a:solidFill>
                <a:latin typeface="Microsoft JhengHe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活動總覽 — 一頁看懂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17373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697480" cy="109728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2377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7A29"/>
                </a:solidFill>
                <a:latin typeface="Microsoft JhengHei"/>
              </a:rPr>
              <a:t>主題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2730"/>
                </a:solidFill>
                <a:latin typeface="Microsoft JhengHei"/>
              </a:rPr>
              <a:t>會員招募中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6372"/>
                </a:solidFill>
                <a:latin typeface="Microsoft JhengHei"/>
              </a:rPr>
              <a:t>暑假入會衝刺</a:t>
            </a:r>
          </a:p>
        </p:txBody>
      </p:sp>
      <p:sp>
        <p:nvSpPr>
          <p:cNvPr id="9" name="Rectangle 8"/>
          <p:cNvSpPr/>
          <p:nvPr/>
        </p:nvSpPr>
        <p:spPr>
          <a:xfrm>
            <a:off x="3410712" y="1371600"/>
            <a:ext cx="2697480" cy="17373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10712" y="1371600"/>
            <a:ext cx="2697480" cy="109728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600200"/>
            <a:ext cx="2377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89AB4"/>
                </a:solidFill>
                <a:latin typeface="Microsoft JhengHei"/>
              </a:rPr>
              <a:t>檔期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2730"/>
                </a:solidFill>
                <a:latin typeface="Microsoft JhengHei"/>
              </a:rPr>
              <a:t>7/15 開跑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6372"/>
                </a:solidFill>
                <a:latin typeface="Microsoft JhengHei"/>
              </a:rPr>
              <a:t>主檔 7/15–8/31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1371600"/>
            <a:ext cx="2697480" cy="17373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2784" y="1371600"/>
            <a:ext cx="2697480" cy="1097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600200"/>
            <a:ext cx="2377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2A4A"/>
                </a:solidFill>
                <a:latin typeface="Microsoft JhengHei"/>
              </a:rPr>
              <a:t>主軸 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2730"/>
                </a:solidFill>
                <a:latin typeface="Microsoft JhengHei"/>
              </a:rPr>
              <a:t>Wokyis 關聯配件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6372"/>
                </a:solidFill>
                <a:latin typeface="Microsoft JhengHei"/>
              </a:rPr>
              <a:t>M5 擴充座新品首發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34856" y="1371600"/>
            <a:ext cx="2697480" cy="17373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34856" y="1371600"/>
            <a:ext cx="2697480" cy="1097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17736" y="1600200"/>
            <a:ext cx="2377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2A4A"/>
                </a:solidFill>
                <a:latin typeface="Microsoft JhengHei"/>
              </a:rPr>
              <a:t>主軸 B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2730"/>
                </a:solidFill>
                <a:latin typeface="Microsoft JhengHei"/>
              </a:rPr>
              <a:t>LYCANDER 暑假活動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6372"/>
                </a:solidFill>
                <a:latin typeface="Microsoft JhengHei"/>
              </a:rPr>
              <a:t>行動辦公 / 開學季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  <a:latin typeface="Microsoft JhengHei"/>
              </a:rPr>
              <a:t>三大機制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3611880" cy="13716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023360"/>
            <a:ext cx="3291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7A29"/>
                </a:solidFill>
                <a:latin typeface="Microsoft JhengHei"/>
              </a:rPr>
              <a:t>① 會員招募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JhengHei"/>
              </a:rPr>
              <a:t>入會即享簡單入會禮 ＋ 會員專屬活動價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5112" y="3840480"/>
            <a:ext cx="3611880" cy="13716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4023360"/>
            <a:ext cx="3291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7A29"/>
                </a:solidFill>
                <a:latin typeface="Microsoft JhengHei"/>
              </a:rPr>
              <a:t>② 滿額贈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JhengHei"/>
              </a:rPr>
              <a:t>單筆滿 NT$1,000 送 YOYOISLES AirTag 保護套（市值 NT$190）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01584" y="3840480"/>
            <a:ext cx="3611880" cy="13716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4023360"/>
            <a:ext cx="3291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7A29"/>
                </a:solidFill>
                <a:latin typeface="Microsoft JhengHei"/>
              </a:rPr>
              <a:t>③ 活動組合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JhengHei"/>
              </a:rPr>
              <a:t>桌面生產力組 / 行動辦公組 / 開學季組 / 配件加價購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9AB4"/>
                </a:solidFill>
                <a:latin typeface="Microsoft JhengHei"/>
              </a:rPr>
              <a:t>目標 KPI：新入會數 ｜ 客單價 AOV ｜ 轉化率 ｜ 滿額贈核銷率 ｜ 組合連帶率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Microsoft JhengHei"/>
              </a:rPr>
              <a:t>官網全站活動 ｜ Wokyis × LYCANDER ｜ 2026/7/15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7A29"/>
                </a:solidFill>
                <a:latin typeface="Microsoft JhengHei"/>
              </a:rPr>
              <a:t>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檔期節奏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698480" cy="54864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691640"/>
            <a:ext cx="329184" cy="329184"/>
          </a:xfrm>
          <a:prstGeom prst="ellipse">
            <a:avLst/>
          </a:prstGeom>
          <a:solidFill>
            <a:srgbClr val="189AB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2468880" cy="2286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2468880" cy="4572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預熱　7/8–7/14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21945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會員招募預告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EDM/社群倒數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名單蒐集</a:t>
            </a:r>
          </a:p>
        </p:txBody>
      </p:sp>
      <p:sp>
        <p:nvSpPr>
          <p:cNvPr id="12" name="Oval 11"/>
          <p:cNvSpPr/>
          <p:nvPr/>
        </p:nvSpPr>
        <p:spPr>
          <a:xfrm>
            <a:off x="3429000" y="1691640"/>
            <a:ext cx="329184" cy="329184"/>
          </a:xfrm>
          <a:prstGeom prst="ellipse">
            <a:avLst/>
          </a:prstGeom>
          <a:solidFill>
            <a:srgbClr val="FF7A2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286000"/>
            <a:ext cx="2468880" cy="2286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2286000"/>
            <a:ext cx="2468880" cy="457200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331720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開跑　7/15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880360"/>
            <a:ext cx="21945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全站上線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首頁 KV 換版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滿額贈啟動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1691640"/>
            <a:ext cx="329184" cy="329184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286000"/>
            <a:ext cx="2468880" cy="2286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286000"/>
            <a:ext cx="246888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31720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主檔　7/15–8/31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880360"/>
            <a:ext cx="21945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Wokyis 新品首發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LYCANDER 暑假組合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會員價持續</a:t>
            </a:r>
          </a:p>
        </p:txBody>
      </p:sp>
      <p:sp>
        <p:nvSpPr>
          <p:cNvPr id="22" name="Oval 21"/>
          <p:cNvSpPr/>
          <p:nvPr/>
        </p:nvSpPr>
        <p:spPr>
          <a:xfrm>
            <a:off x="8823960" y="1691640"/>
            <a:ext cx="329184" cy="329184"/>
          </a:xfrm>
          <a:prstGeom prst="ellipse">
            <a:avLst/>
          </a:prstGeom>
          <a:solidFill>
            <a:srgbClr val="5A637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23960" y="2286000"/>
            <a:ext cx="2468880" cy="2286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23960" y="2286000"/>
            <a:ext cx="2468880" cy="457200"/>
          </a:xfrm>
          <a:prstGeom prst="rect">
            <a:avLst/>
          </a:prstGeom>
          <a:solidFill>
            <a:srgbClr val="5A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2331720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收尾　8/25–8/31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880360"/>
            <a:ext cx="21945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最後一週催單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開學季加碼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贈品庫存倒數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Microsoft JhengHei"/>
              </a:rPr>
              <a:t>官網全站活動 ｜ Wokyis × LYCANDER ｜ 2026/7/15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7A29"/>
                </a:solidFill>
                <a:latin typeface="Microsoft JhengHei"/>
              </a:rPr>
              <a:t>MECHANIC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會員招募中 — 簡單入會禮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  <a:latin typeface="Microsoft JhengHei"/>
              </a:rPr>
              <a:t>入會即享（二擇一，建議由業主拍板）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5394960" cy="17830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28016" cy="1783080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4937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7A29"/>
                </a:solidFill>
                <a:latin typeface="Microsoft JhengHei"/>
              </a:rPr>
              <a:t>方案 A ｜ NT$100 購物金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22730"/>
                </a:solidFill>
                <a:latin typeface="Microsoft JhengHei"/>
              </a:rPr>
              <a:t>首購折抵，門檻低、拉新最快。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372"/>
                </a:solidFill>
                <a:latin typeface="Microsoft JhengHei"/>
              </a:rPr>
              <a:t>適合衝「新入會數」KPI。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5394960" cy="17830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128016" cy="178308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937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89AB4"/>
                </a:solidFill>
                <a:latin typeface="Microsoft JhengHei"/>
              </a:rPr>
              <a:t>方案 B ｜ YOYOISLES AirTag 保護套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22730"/>
                </a:solidFill>
                <a:latin typeface="Microsoft JhengHei"/>
              </a:rPr>
              <a:t>實物有感（市值 NT$190），與品牌調性合。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372"/>
                </a:solidFill>
                <a:latin typeface="Microsoft JhengHei"/>
              </a:rPr>
              <a:t>適合提升入會「體感價值」。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  <a:latin typeface="Microsoft JhengHei"/>
              </a:rPr>
              <a:t>會員專屬 &amp; 招募導流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4206240"/>
          <a:ext cx="11064240" cy="1554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12848"/>
                <a:gridCol w="8851392"/>
              </a:tblGrid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項目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內容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會員專屬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活動期間全站會員價、組合包會員加碼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招募 CTA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首頁 banner ｜ 商品頁入會浮層 ｜ 結帳前「登入多省 NT$○」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導流管道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EDM（7/8 起預熱）｜ 社群限動倒數 ｜ 既有客回購名單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Microsoft JhengHei"/>
              </a:rPr>
              <a:t>官網全站活動 ｜ Wokyis × LYCANDER ｜ 2026/7/15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7A29"/>
                </a:solidFill>
                <a:latin typeface="Microsoft JhengHei"/>
              </a:rPr>
              <a:t>MECHANIC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滿額贈 — 單筆滿千送 AirTag 保護套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1463040"/>
            <a:ext cx="3017520" cy="301752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5A6372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5A6372"/>
                </a:solidFill>
                <a:latin typeface="Microsoft JhengHei"/>
              </a:rPr>
              <a:t>YOYOISLES</a:t>
            </a:r>
          </a:p>
          <a:p>
            <a:pPr algn="ctr"/>
            <a:r>
              <a:rPr sz="1100">
                <a:solidFill>
                  <a:srgbClr val="5A6372"/>
                </a:solidFill>
                <a:latin typeface="Microsoft JhengHei"/>
              </a:rPr>
              <a:t>Air Stars</a:t>
            </a:r>
          </a:p>
          <a:p>
            <a:pPr algn="ctr"/>
            <a:r>
              <a:rPr sz="1100">
                <a:solidFill>
                  <a:srgbClr val="5A6372"/>
                </a:solidFill>
                <a:latin typeface="Microsoft JhengHei"/>
              </a:rPr>
              <a:t>AirTag 保護套圖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291840" cy="384048"/>
          </a:xfrm>
          <a:prstGeom prst="round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市值 NT$190 ｜ YOYOISLES Air Stars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7772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B2A4A"/>
                </a:solidFill>
                <a:latin typeface="Microsoft JhengHei"/>
              </a:rPr>
              <a:t>單筆結帳滿 NT$1,000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7A29"/>
                </a:solidFill>
                <a:latin typeface="Microsoft JhengHei"/>
              </a:rPr>
              <a:t>即送 星型 EVA AirTag 保護套 ×1（4 色）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200400"/>
          <a:ext cx="7772400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6217920"/>
              </a:tblGrid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規則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說明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門檻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單筆結帳金額滿 NT$1,000（含）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贈品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YOYOISLES Air Stars AirTag 保護套 ×1，市值 NT$190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數量上限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每筆 1 個、送完為止（庫存上限【需業主確認】）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疊加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可與會員價／組合價疊加；贈品不折現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加購誘導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門檻貼近單品客單 → 文案主打「再加一條線材即達標」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Microsoft JhengHei"/>
              </a:rPr>
              <a:t>官網全站活動 ｜ Wokyis × LYCANDER ｜ 2026/7/15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7A29"/>
                </a:solidFill>
                <a:latin typeface="Microsoft JhengHei"/>
              </a:rPr>
              <a:t>TRACK A ｜ 新品首發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Wokyis 關聯配件 — Mac mini 桌面生態核心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291840" cy="310896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5A6372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5A6372"/>
                </a:solidFill>
                <a:latin typeface="Microsoft JhengHei"/>
              </a:rPr>
              <a:t>Wokyis M5</a:t>
            </a:r>
          </a:p>
          <a:p>
            <a:pPr algn="ctr"/>
            <a:r>
              <a:rPr sz="1100">
                <a:solidFill>
                  <a:srgbClr val="5A6372"/>
                </a:solidFill>
                <a:latin typeface="Microsoft JhengHei"/>
              </a:rPr>
              <a:t>擴充座圖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1417320"/>
            <a:ext cx="749807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B2A4A"/>
                </a:solidFill>
                <a:latin typeface="Microsoft JhengHei"/>
              </a:rPr>
              <a:t>Wokyis M5 迷你螢幕擴充座（hero 新品）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2730"/>
                </a:solidFill>
                <a:latin typeface="Microsoft JhengHei"/>
              </a:rPr>
              <a:t>復古外型 × 現代效能：5吋 IPS 副螢幕＋M.2 NVMe SSD 擴充＋10Gbps 多孔，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2730"/>
                </a:solidFill>
                <a:latin typeface="Microsoft JhengHei"/>
              </a:rPr>
              <a:t>把 Mac mini 變成桌面主角。10Gbps / 80Gbps TB5 兩版本。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297180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7A29"/>
                </a:solidFill>
                <a:latin typeface="Microsoft JhengHei"/>
              </a:rPr>
              <a:t>為何「關聯配件」打法最有效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3383280"/>
            <a:ext cx="7498079" cy="56692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69080" y="3383280"/>
            <a:ext cx="91440" cy="566928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3438144"/>
            <a:ext cx="7223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螢幕外接　—　Wokyis M5 ＋ LYCANDER HDMI 2.1 8K 線 → 一線到位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4041648"/>
            <a:ext cx="7498079" cy="56692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4041648"/>
            <a:ext cx="91440" cy="566928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4096512"/>
            <a:ext cx="7223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桌面充電　—　＋ OLIKA W3 三合一磁吸 → 手機/手錶/耳機歸位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4700016"/>
            <a:ext cx="7498079" cy="56692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69080" y="4700016"/>
            <a:ext cx="91440" cy="566928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4754880"/>
            <a:ext cx="7223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輸入升級　—　＋ iPad/鍵盤周邊 → 完整桌面生產力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69080" y="5358384"/>
            <a:ext cx="7498079" cy="56692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69080" y="5358384"/>
            <a:ext cx="91440" cy="566928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5413248"/>
            <a:ext cx="7223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拉高客單　—　單買 vs 組合 → AOV 提升、滿額贈門檻自然達標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Microsoft JhengHei"/>
              </a:rPr>
              <a:t>官網全站活動 ｜ Wokyis × LYCANDER ｜ 2026/7/15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7A29"/>
                </a:solidFill>
                <a:latin typeface="Microsoft JhengHei"/>
              </a:rPr>
              <a:t>TRACK A ｜ 組合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Wokyis 關聯配件組合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20646"/>
                <a:gridCol w="4794504"/>
                <a:gridCol w="1567434"/>
                <a:gridCol w="1475232"/>
                <a:gridCol w="1106424"/>
              </a:tblGrid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組合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內容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原價(推估)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組合價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省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桌面生產力組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M5 10G ＋ HDMI 8K 線 ＋ OLIKA W3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NT$8,370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NT$7,490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NT$880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創作者旗艦組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M5 80G TB5 ＋ Mac mini 9合1 底座 ＋ 100W 線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NT$13,980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NT$12,490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NT$1,490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3566160"/>
            <a:ext cx="11064240" cy="10972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566160"/>
            <a:ext cx="128016" cy="1097280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7A29"/>
                </a:solidFill>
                <a:latin typeface="Microsoft JhengHei"/>
              </a:rPr>
              <a:t>組合策略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以 Wokyis M5 為錨點帶動 LYCANDER 周邊連帶銷售；兩組合皆 &gt;NT$1,000，自動觸發滿額贈，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讓客人「買整套更划算又有禮」，提升客單價與新品曝光。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372"/>
                </a:solidFill>
                <a:latin typeface="Microsoft JhengHei"/>
              </a:rPr>
              <a:t>＊售價為市場推估，正式以官網後台 SKU／採購報價覆核。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Microsoft JhengHei"/>
              </a:rPr>
              <a:t>官網全站活動 ｜ Wokyis × LYCANDER ｜ 2026/7/15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7A29"/>
                </a:solidFill>
                <a:latin typeface="Microsoft JhengHei"/>
              </a:rPr>
              <a:t>TRACK B ｜ 暑假主題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LYCANDER 暑假活動 — 行動辦公 / 開學季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697480" cy="24688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69748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2697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筆電包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103120"/>
            <a:ext cx="1691640" cy="91440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5A6372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5A6372"/>
                </a:solidFill>
                <a:latin typeface="Microsoft JhengHei"/>
              </a:rPr>
              <a:t>主圖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730"/>
                </a:solidFill>
                <a:latin typeface="Microsoft JhengHei"/>
              </a:rPr>
              <a:t>Contrastin 支架包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730"/>
                </a:solidFill>
                <a:latin typeface="Microsoft JhengHei"/>
              </a:rPr>
              <a:t>Stiksels 拼接包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611880"/>
            <a:ext cx="1691640" cy="384048"/>
          </a:xfrm>
          <a:prstGeom prst="round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行動辦公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0712" y="1463040"/>
            <a:ext cx="2697480" cy="24688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0712" y="1463040"/>
            <a:ext cx="269748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1517904"/>
            <a:ext cx="2697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iPad 鍵盤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13632" y="2103120"/>
            <a:ext cx="1691640" cy="91440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5A6372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5A6372"/>
                </a:solidFill>
                <a:latin typeface="Microsoft JhengHei"/>
              </a:rPr>
              <a:t>主圖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310896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730"/>
                </a:solidFill>
                <a:latin typeface="Microsoft JhengHei"/>
              </a:rPr>
              <a:t>Combo Lite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730"/>
                </a:solidFill>
                <a:latin typeface="Microsoft JhengHei"/>
              </a:rPr>
              <a:t>HALFTER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13632" y="3611880"/>
            <a:ext cx="1691640" cy="384048"/>
          </a:xfrm>
          <a:prstGeom prst="round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開學季生產力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2784" y="1463040"/>
            <a:ext cx="2697480" cy="24688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463040"/>
            <a:ext cx="269748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4" y="1517904"/>
            <a:ext cx="2697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桌面充電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75704" y="2103120"/>
            <a:ext cx="1691640" cy="91440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5A6372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5A6372"/>
                </a:solidFill>
                <a:latin typeface="Microsoft JhengHei"/>
              </a:rPr>
              <a:t>主圖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10896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730"/>
                </a:solidFill>
                <a:latin typeface="Microsoft JhengHei"/>
              </a:rPr>
              <a:t>OLIKA W3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730"/>
                </a:solidFill>
                <a:latin typeface="Microsoft JhengHei"/>
              </a:rPr>
              <a:t>100W 編織線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75704" y="3611880"/>
            <a:ext cx="1691640" cy="384048"/>
          </a:xfrm>
          <a:prstGeom prst="round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桌面整潔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34856" y="1463040"/>
            <a:ext cx="2697480" cy="24688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34856" y="1463040"/>
            <a:ext cx="269748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4856" y="1517904"/>
            <a:ext cx="2697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影音線材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37776" y="2103120"/>
            <a:ext cx="1691640" cy="91440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5A6372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5A6372"/>
                </a:solidFill>
                <a:latin typeface="Microsoft JhengHei"/>
              </a:rPr>
              <a:t>主圖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6" y="310896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730"/>
                </a:solidFill>
                <a:latin typeface="Microsoft JhengHei"/>
              </a:rPr>
              <a:t>HDMI 2.1 8K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730"/>
                </a:solidFill>
                <a:latin typeface="Microsoft JhengHei"/>
              </a:rPr>
              <a:t>極細認證線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7776" y="3611880"/>
            <a:ext cx="1691640" cy="384048"/>
          </a:xfrm>
          <a:prstGeom prst="round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外接必備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7A29"/>
                </a:solidFill>
                <a:latin typeface="Microsoft JhengHei"/>
              </a:rPr>
              <a:t>暑假情境包裝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以「行動辦公／開學季」故事線包裝既有核心品類，搭配限時組合與加價購；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主打族群：學生、文書/SOHO、Mac 使用者。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Microsoft JhengHei"/>
              </a:rPr>
              <a:t>官網全站活動 ｜ Wokyis × LYCANDER ｜ 2026/7/15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7A29"/>
                </a:solidFill>
                <a:latin typeface="Microsoft JhengHei"/>
              </a:rPr>
              <a:t>TRACK B ｜ 組合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LYCANDER 暑假活動組合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2103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4846320"/>
                <a:gridCol w="1554480"/>
                <a:gridCol w="1463040"/>
                <a:gridCol w="1188720"/>
              </a:tblGrid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組合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內容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原價(推估)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組合價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省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行動辦公組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Contrastin 筆電包 ＋ HDMI 8K 線 ＋ OLIKA W3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NT$4,160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NT$3,690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NT$470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開學季 iPad 組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Combo Lite 鍵盤 ＋ 180° 收納包（＋AirTag 套贈）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NT$3,270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NT$2,790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NT$480＋贈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配件加價購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任一主商品 +100W 線 / +180° 收納包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+NT$390 起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3840480"/>
            <a:ext cx="11064240" cy="9144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840480"/>
            <a:ext cx="128016" cy="9144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59352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89AB4"/>
                </a:solidFill>
                <a:latin typeface="Microsoft JhengHei"/>
              </a:rPr>
              <a:t>加價購是滿額贈的最佳推手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結帳前推「+NT$390 線材」既湊滿千得贈品，又提升件數與連帶率。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372"/>
                </a:solidFill>
                <a:latin typeface="Microsoft JhengHei"/>
              </a:rPr>
              <a:t>＊售價為市場推估，正式以官網後台 SKU／採購報價覆核。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Microsoft JhengHei"/>
              </a:rPr>
              <a:t>官網全站活動 ｜ Wokyis × LYCANDER ｜ 2026/7/15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7A29"/>
                </a:solidFill>
                <a:latin typeface="Microsoft JhengHei"/>
              </a:rPr>
              <a:t>ASSORTMENT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建議上架品項總表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25880"/>
          <a:ext cx="11429997" cy="4572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08684"/>
                <a:gridCol w="1503947"/>
                <a:gridCol w="1203157"/>
                <a:gridCol w="1303421"/>
                <a:gridCol w="1102894"/>
                <a:gridCol w="3007894"/>
              </a:tblGrid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</a:rPr>
                        <a:t>品項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</a:rPr>
                        <a:t>品牌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</a:rPr>
                        <a:t>角色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</a:rPr>
                        <a:t>建議售價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</a:rPr>
                        <a:t>活動價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</a:rPr>
                        <a:t>關聯/說明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M5 迷你螢幕擴充座 10Gbps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Wokyis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🆕新品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5,490*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4,990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Mac mini 桌面核心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M5 擴充座 80Gbps TB5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Wokyis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🆕新品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10,900*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9,990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高階/創作者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HDMI 2.1 8K 認證線 1.5M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LYCANDER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⭐主推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690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590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外接螢幕必備/好湊單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OLIKA W3 三合一磁吸充電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LYCANDER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⭐主推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2,190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1,890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桌面充電主力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Combo Lite iPad 鍵盤殼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LYCANDER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⭐主推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2,680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2,380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開學季主打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Contrastin 磁吸筆電包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LYCANDER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⭐主推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1,280*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1,080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行動辦公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Mac mini 9合1 擴充底座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LYCANDER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⭐主推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2,490*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2,190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與 Wokyis 互補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USB-C 100W 編織線【新建議】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LYCANDER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🔁衝量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590*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490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耗材回購/湊單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M.2 NVMe SSD 外接盒【新建議】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（新）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🔁衝量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690*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590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Mac 桌面儲存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螢幕增高架/理線【新建議】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（新）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🔁衝量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890*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790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桌面美學/提客單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Air Stars AirTag 保護套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YOYOISLES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🎁贈品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市值190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贈品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730"/>
                          </a:solidFill>
                          <a:latin typeface="Microsoft JhengHei"/>
                        </a:rPr>
                        <a:t>滿額贈/入會禮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372"/>
                </a:solidFill>
                <a:latin typeface="Microsoft JhengHei"/>
              </a:rPr>
              <a:t>＊標 * 或【新建議】之售價為推估，待覆核；單位 NT$。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Microsoft JhengHei"/>
              </a:rPr>
              <a:t>官網全站活動 ｜ Wokyis × LYCANDER ｜ 2026/7/15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7A29"/>
                </a:solidFill>
                <a:latin typeface="Microsoft JhengHei"/>
              </a:rPr>
              <a:t>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活動組合總表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47116" cy="3017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36875"/>
                <a:gridCol w="5061204"/>
                <a:gridCol w="1218437"/>
                <a:gridCol w="1312163"/>
                <a:gridCol w="1218437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</a:rPr>
                        <a:t>組合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</a:rPr>
                        <a:t>內容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</a:rPr>
                        <a:t>原價*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</a:rPr>
                        <a:t>組合價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</a:rPr>
                        <a:t>省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Wokyis 桌面生產力組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M5 10G ＋ HDMI 8K ＋ OLIKA W3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8,370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7,490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880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Wokyis 創作者旗艦組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M5 80G TB5 ＋ Mac mini 底座 ＋ 100W 線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13,980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12,490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1,490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LYCANDER 行動辦公組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Contrastin 包 ＋ HDMI 8K ＋ OLIKA W3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4,160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3,690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470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開學季 iPad 組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Combo Lite 鍵盤 ＋ 180° 收納包（＋贈AirTag）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3,270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2,790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480＋贈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配件加價購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主商品 +100W 線 / +180° 收納包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+390 起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0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663440"/>
            <a:ext cx="1124712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80060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全組合皆 ≥ NT$1,000 → 自動觸發滿額贈，疊加感強化「買整套更划算又有禮」。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B7C4DA"/>
                </a:solidFill>
                <a:latin typeface="Microsoft JhengHei"/>
              </a:rPr>
              <a:t>＊單位 NT$，售價為推估，正式以後台覆核。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Microsoft JhengHei"/>
              </a:rPr>
              <a:t>官網全站活動 ｜ Wokyis × LYCANDER ｜ 2026/7/15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7A29"/>
                </a:solidFill>
                <a:latin typeface="Microsoft JhengHei"/>
              </a:rPr>
              <a:t>CREATIVE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視覺與文案方向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2A4A"/>
                </a:solidFill>
                <a:latin typeface="Microsoft JhengHei"/>
              </a:rPr>
              <a:t>主視覺 Slogan（候選）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5349240" cy="8686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09728" cy="868680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2730"/>
                </a:solidFill>
                <a:latin typeface="Microsoft JhengHei"/>
              </a:rPr>
              <a:t>「暑假升級你的桌面 — 會員招募中」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9" y="1783080"/>
            <a:ext cx="5349240" cy="8686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79" y="1783080"/>
            <a:ext cx="109728" cy="868680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192024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2730"/>
                </a:solidFill>
                <a:latin typeface="Microsoft JhengHei"/>
              </a:rPr>
              <a:t>「Mac mini 一桌到位 × 暑假行動辦公」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2A4A"/>
                </a:solidFill>
                <a:latin typeface="Microsoft JhengHei"/>
              </a:rPr>
              <a:t>品牌主色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91840"/>
            <a:ext cx="2606040" cy="640080"/>
          </a:xfrm>
          <a:prstGeom prst="roundRect">
            <a:avLst/>
          </a:prstGeom>
          <a:solidFill>
            <a:srgbClr val="1B2A4A"/>
          </a:solidFill>
          <a:ln w="6350">
            <a:solidFill>
              <a:srgbClr val="5A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8328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科技深藍  #1B2A4A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3291840"/>
            <a:ext cx="2606040" cy="640080"/>
          </a:xfrm>
          <a:prstGeom prst="roundRect">
            <a:avLst/>
          </a:prstGeom>
          <a:solidFill>
            <a:srgbClr val="FF7A29"/>
          </a:solidFill>
          <a:ln w="6350">
            <a:solidFill>
              <a:srgbClr val="5A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338328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活力橙  #FF7A29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79" y="3291840"/>
            <a:ext cx="2606040" cy="640080"/>
          </a:xfrm>
          <a:prstGeom prst="roundRect">
            <a:avLst/>
          </a:prstGeom>
          <a:solidFill>
            <a:srgbClr val="189AB4"/>
          </a:solidFill>
          <a:ln w="6350">
            <a:solidFill>
              <a:srgbClr val="5A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39" y="338328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輔助青  #189AB4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399" y="3291840"/>
            <a:ext cx="2606040" cy="640080"/>
          </a:xfrm>
          <a:prstGeom prst="roundRect">
            <a:avLst/>
          </a:prstGeom>
          <a:solidFill>
            <a:srgbClr val="F2F4F8"/>
          </a:solidFill>
          <a:ln w="6350">
            <a:solidFill>
              <a:srgbClr val="5A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59" y="338328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2730"/>
                </a:solidFill>
                <a:latin typeface="Microsoft JhengHei"/>
              </a:rPr>
              <a:t>淺灰底  #F2F4F8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2A4A"/>
                </a:solidFill>
                <a:latin typeface="Microsoft JhengHei"/>
              </a:rPr>
              <a:t>Banner 文案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48640" y="4572000"/>
          <a:ext cx="11064240" cy="1280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9052560"/>
              </a:tblGrid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位置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文案</a:t>
                      </a:r>
                    </a:p>
                  </a:txBody>
                  <a:tcPr marL="63500" marR="63500" marT="25400" marB="25400" anchor="ctr"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首頁 KV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7/15 全站開跑｜入會即享好禮｜滿千送 AirTag 保護套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商品頁浮層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登入會員再省，還送暑假好禮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素材清單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730"/>
                          </a:solidFill>
                          <a:latin typeface="Microsoft JhengHei"/>
                        </a:rPr>
                        <a:t>首頁 KV／會員招募 banner／滿額贈 banner／Wokyis 新品主圖／組合主圖／社群倒數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Microsoft JhengHei"/>
              </a:rPr>
              <a:t>官網全站活動 ｜ Wokyis × LYCANDER ｜ 2026/7/15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7A29"/>
                </a:solidFill>
                <a:latin typeface="Microsoft JhengHei"/>
              </a:rPr>
              <a:t>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官網執行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603504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103120" cy="60350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2011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1 商品上架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371600"/>
            <a:ext cx="85953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依品項表建立/更新 SKU、價格、活動價；新建議品標待覆核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48256"/>
            <a:ext cx="11064240" cy="603504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48256"/>
            <a:ext cx="2103120" cy="60350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48256"/>
            <a:ext cx="2011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2 機制設定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048256"/>
            <a:ext cx="85953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入會禮（擇一）、滿額贈（滿千自動加贈、庫存上限）、組合與加價購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24912"/>
            <a:ext cx="11064240" cy="603504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724912"/>
            <a:ext cx="2103120" cy="60350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24912"/>
            <a:ext cx="2011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3 視覺換版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724912"/>
            <a:ext cx="85953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首頁 KV、兩支活動 banner、商品頁浮層，7/15 00:00 排程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01568"/>
            <a:ext cx="11064240" cy="603504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01568"/>
            <a:ext cx="2103120" cy="60350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01568"/>
            <a:ext cx="2011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4 會員導流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401568"/>
            <a:ext cx="85953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EDM 預熱（7/8 起）、社群倒數、結帳前會員提示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78224"/>
            <a:ext cx="11064240" cy="603504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078224"/>
            <a:ext cx="2103120" cy="60350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78224"/>
            <a:ext cx="2011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5 Listing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078224"/>
            <a:ext cx="85953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把完整文案貼入對應商品（標題/五點/描述/SEO）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54880"/>
            <a:ext cx="11064240" cy="603504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754880"/>
            <a:ext cx="2103120" cy="60350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754880"/>
            <a:ext cx="2011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6 QA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754880"/>
            <a:ext cx="85953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滿額贈觸發、會員價、組合價、行動版顯示、贈品庫存扣減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431536"/>
            <a:ext cx="11064240" cy="603504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431536"/>
            <a:ext cx="2103120" cy="60350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431536"/>
            <a:ext cx="2011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7 雙通路一致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5431536"/>
            <a:ext cx="85953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官網確認後同步蝦皮 shinetech88888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Microsoft JhengHei"/>
              </a:rPr>
              <a:t>官網全站活動 ｜ Wokyis × LYCANDER ｜ 2026/7/15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7A29"/>
                </a:solidFill>
                <a:latin typeface="Microsoft JhengHei"/>
              </a:rPr>
              <a:t>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KPI 與成效追蹤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611880" cy="17373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611880" cy="109728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222730"/>
                </a:solidFill>
                <a:latin typeface="Microsoft JhengHei"/>
              </a:rPr>
              <a:t>新入會數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372"/>
                </a:solidFill>
                <a:latin typeface="Microsoft JhengHei"/>
              </a:rPr>
              <a:t>招募成效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1463040"/>
            <a:ext cx="3611880" cy="17373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5112" y="1463040"/>
            <a:ext cx="3611880" cy="109728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222730"/>
                </a:solidFill>
                <a:latin typeface="Microsoft JhengHei"/>
              </a:rPr>
              <a:t>客單價 AOV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372"/>
                </a:solidFill>
                <a:latin typeface="Microsoft JhengHei"/>
              </a:rPr>
              <a:t>組合/加購帶動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1583" y="1463040"/>
            <a:ext cx="3611880" cy="17373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1583" y="1463040"/>
            <a:ext cx="3611880" cy="1097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3" y="178308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222730"/>
                </a:solidFill>
                <a:latin typeface="Microsoft JhengHei"/>
              </a:rPr>
              <a:t>轉化率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372"/>
                </a:solidFill>
                <a:latin typeface="Microsoft JhengHei"/>
              </a:rPr>
              <a:t>活動頁→結帳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3611880" cy="17373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3611880" cy="109728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9476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222730"/>
                </a:solidFill>
                <a:latin typeface="Microsoft JhengHei"/>
              </a:rPr>
              <a:t>滿額贈核銷率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372"/>
                </a:solidFill>
                <a:latin typeface="Microsoft JhengHei"/>
              </a:rPr>
              <a:t>門檻有效性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5112" y="3474720"/>
            <a:ext cx="3611880" cy="17373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25112" y="3474720"/>
            <a:ext cx="3611880" cy="109728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379476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222730"/>
                </a:solidFill>
                <a:latin typeface="Microsoft JhengHei"/>
              </a:rPr>
              <a:t>組合連帶率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372"/>
                </a:solidFill>
                <a:latin typeface="Microsoft JhengHei"/>
              </a:rPr>
              <a:t>套組吸引力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1583" y="3474720"/>
            <a:ext cx="3611880" cy="17373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1583" y="3474720"/>
            <a:ext cx="3611880" cy="1097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79476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222730"/>
                </a:solidFill>
                <a:latin typeface="Microsoft JhengHei"/>
              </a:rPr>
              <a:t>Wokyis 新品銷量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372"/>
                </a:solidFill>
                <a:latin typeface="Microsoft JhengHei"/>
              </a:rPr>
              <a:t>首發動能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778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9AB4"/>
                </a:solidFill>
                <a:latin typeface="Microsoft JhengHei"/>
              </a:rPr>
              <a:t>建議：每週檢視，主檔中段（8/1）做一次成效複盤與素材/組合微調。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Microsoft JhengHei"/>
              </a:rPr>
              <a:t>官網全站活動 ｜ Wokyis × LYCANDER ｜ 2026/7/15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7A29"/>
                </a:solidFill>
                <a:latin typeface="Microsoft JhengHei"/>
              </a:rPr>
              <a:t>APPENDIX A ｜ Listing 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Wokyis M5 迷你螢幕擴充座（hero 新品）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371600"/>
            <a:ext cx="2560320" cy="237744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5A6372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5A6372"/>
                </a:solidFill>
                <a:latin typeface="Microsoft JhengHei"/>
              </a:rPr>
              <a:t>商品圖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280160" cy="384048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商品標題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8321040" cy="8686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79552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2730"/>
                </a:solidFill>
                <a:latin typeface="Microsoft JhengHei"/>
              </a:rPr>
              <a:t>Wokyis M5 Mac mini 迷你螢幕擴充座｜5吋IPS螢幕+SSD擴充+10Gbps USB Hub 復古桌面神器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280160" cy="384048"/>
          </a:xfrm>
          <a:prstGeom prst="round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賣點五點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1. Mac mini 一秒變身：5吋 IPS 副螢幕，顯示系統資訊/時鐘/監控，復古造型滿足質感控。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2. SSD 擴充：內建 M.2 NVMe 槽（10Gbps），桌面儲存一次補滿。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3. 一座多孔：4×USB-A ＋ USB-C 10Gbps ＋ SD/microSD ＋ 3.5mm 耳機孔。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4. 廣相容：Mac mini M4/M2/M1、MacBook Air/Pro、Windows 筆電皆可用。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5. 一桌到位：搭 LYCANDER HDMI 8K 線與 OLIKA W3 充電，打造整潔高效桌面。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32120"/>
            <a:ext cx="1645920" cy="384048"/>
          </a:xfrm>
          <a:prstGeom prst="round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SEO 後台關鍵字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5559552"/>
            <a:ext cx="9144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372"/>
                </a:solidFill>
                <a:latin typeface="Microsoft JhengHei"/>
              </a:rPr>
              <a:t>Mac mini 擴充座,Wokyis,M5,迷你螢幕,NVMe SSD 擴充,USB Hub,Mac mini M4,副螢幕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Microsoft JhengHei"/>
              </a:rPr>
              <a:t>官網全站活動 ｜ Wokyis × LYCANDER ｜ 2026/7/15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7A29"/>
                </a:solidFill>
                <a:latin typeface="Microsoft JhengHei"/>
              </a:rPr>
              <a:t>APPENDIX A ｜ Listing 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LYCANDER HDMI 2.1 8K 極細認證線 1.5M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371600"/>
            <a:ext cx="2560320" cy="237744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5A6372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5A6372"/>
                </a:solidFill>
                <a:latin typeface="Microsoft JhengHei"/>
              </a:rPr>
              <a:t>商品圖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280160" cy="384048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商品標題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8321040" cy="8686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79552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2730"/>
                </a:solidFill>
                <a:latin typeface="Microsoft JhengHei"/>
              </a:rPr>
              <a:t>LYCANDER HDMI 2.1 8K 極細認證影音傳輸線 1.5M｜48Gbps 8K@60Hz 認證線 Mac/PS5/螢幕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280160" cy="384048"/>
          </a:xfrm>
          <a:prstGeom prst="round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賣點五點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1. 8K@60Hz / 4K@120Hz：HDMI 2.1 滿頻 48Gbps，畫面清晰流暢不掉格。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2. 極細好收：細線徑桌面不雜亂，搭 Wokyis M5/Mac mini 外接螢幕剛好。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3. 官方認證：相容 Mac、PS5、Switch、螢幕、投影。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4. 耐折耐用：強化接頭與線身，插拔更安心。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5. 滿額好搭：NT$690 一條，湊滿千送 AirTag 套無痛達標。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32120"/>
            <a:ext cx="1645920" cy="384048"/>
          </a:xfrm>
          <a:prstGeom prst="round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SEO 後台關鍵字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5559552"/>
            <a:ext cx="9144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372"/>
                </a:solidFill>
                <a:latin typeface="Microsoft JhengHei"/>
              </a:rPr>
              <a:t>HDMI 2.1,8K 傳輸線,48Gbps,認證線,Mac 外接螢幕,PS5 HDMI,1.5M,LYCANDER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Microsoft JhengHei"/>
              </a:rPr>
              <a:t>官網全站活動 ｜ Wokyis × LYCANDER ｜ 2026/7/15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7A29"/>
                </a:solidFill>
                <a:latin typeface="Microsoft JhengHei"/>
              </a:rPr>
              <a:t>APPENDIX A ｜ Listing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LYCANDER OLIKA W3 三合一磁吸無線充電器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371600"/>
            <a:ext cx="2560320" cy="237744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5A6372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5A6372"/>
                </a:solidFill>
                <a:latin typeface="Microsoft JhengHei"/>
              </a:rPr>
              <a:t>商品圖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280160" cy="384048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商品標題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8321040" cy="8686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79552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2730"/>
                </a:solidFill>
                <a:latin typeface="Microsoft JhengHei"/>
              </a:rPr>
              <a:t>LYCANDER OLIKA W3 三合一磁吸無線充電器｜iPhone+Apple Watch+AirPods 桌面快充座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280160" cy="384048"/>
          </a:xfrm>
          <a:prstGeom prst="round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賣點五點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1. 三合一一次充：iPhone 磁吸 ＋ Apple Watch ＋ AirPods 一座搞定。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2. 磁吸對位：MagSafe 相容，放上即充不對位煩惱。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3. 桌面整潔：取代多條線材，與 Wokyis/Mac 桌面美學一致。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4. 快充穩定：智慧分配、過充保護。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5. 行動辦公必備：桌面、出差、床頭一座通用。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32120"/>
            <a:ext cx="1645920" cy="384048"/>
          </a:xfrm>
          <a:prstGeom prst="round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SEO 後台關鍵字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5559552"/>
            <a:ext cx="9144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372"/>
                </a:solidFill>
                <a:latin typeface="Microsoft JhengHei"/>
              </a:rPr>
              <a:t>三合一無線充電,MagSafe,磁吸充電座,Apple Watch 充電,AirPods 充電,OLIKA W3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Microsoft JhengHei"/>
              </a:rPr>
              <a:t>官網全站活動 ｜ Wokyis × LYCANDER ｜ 2026/7/15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7A29"/>
                </a:solidFill>
                <a:latin typeface="Microsoft JhengHei"/>
              </a:rPr>
              <a:t>APPENDIX A ｜ Listing 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LYCANDER Combo Lite 觸控鍵盤 iPad 保護殼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371600"/>
            <a:ext cx="2560320" cy="237744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5A6372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5A6372"/>
                </a:solidFill>
                <a:latin typeface="Microsoft JhengHei"/>
              </a:rPr>
              <a:t>商品圖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280160" cy="384048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商品標題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8321040" cy="8686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79552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2730"/>
                </a:solidFill>
                <a:latin typeface="Microsoft JhengHei"/>
              </a:rPr>
              <a:t>LYCANDER Combo Lite iPad 觸控鍵盤磁吸可拆保護殼｜巧控觸控板 注音鍵盤 開學季生產力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280160" cy="384048"/>
          </a:xfrm>
          <a:prstGeom prst="round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賣點五點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1. 鍵盤＋觸控板：iPad 秒變輕筆電，報告打字更快。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2. 磁吸可拆：看劇純平板、打字接鍵盤。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3. 注音在地化：印刷注音鍵位，直覺好上手。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4. 多角度支撐：站立辦公、追劇皆穩固。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5. 開學季首選：學生、文書族暑假升級裝備。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32120"/>
            <a:ext cx="1645920" cy="384048"/>
          </a:xfrm>
          <a:prstGeom prst="round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SEO 後台關鍵字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5559552"/>
            <a:ext cx="9144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372"/>
                </a:solidFill>
                <a:latin typeface="Microsoft JhengHei"/>
              </a:rPr>
              <a:t>iPad 鍵盤,巧控鍵盤,觸控板鍵盤,iPad 保護殼,注音鍵盤,Combo Lite,LYCANDER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Microsoft JhengHei"/>
              </a:rPr>
              <a:t>官網全站活動 ｜ Wokyis × LYCANDER ｜ 2026/7/15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Microsoft Jheng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7A29"/>
                </a:solidFill>
                <a:latin typeface="Microsoft JhengHei"/>
              </a:rPr>
              <a:t>APPENDIX A ｜ Listing 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YOYOISLES Air Stars AirTag 保護套（滿額贈／入會禮）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371600"/>
            <a:ext cx="2560320" cy="237744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5A6372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5A6372"/>
                </a:solidFill>
                <a:latin typeface="Microsoft JhengHei"/>
              </a:rPr>
              <a:t>商品圖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280160" cy="384048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商品標題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8321040" cy="8686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79552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2730"/>
                </a:solidFill>
                <a:latin typeface="Microsoft JhengHei"/>
              </a:rPr>
              <a:t>YOYOISLES Air Stars 星型 AirTag 保護套｜EVA 輕量防護 門卡磁扣 安全無毒 4色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280160" cy="384048"/>
          </a:xfrm>
          <a:prstGeom prst="round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賣點五點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1. 星型設計：辨識度高、療癒造型，AirTag 一秒變吊飾。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2. EVA 輕量防護：精密模具包覆，防刮防撞不阻擋訊號。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3. 掛繩孔好攜帶：鑰匙、背包、寵物項圈隨掛隨找。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4. 安全無毒：材質安心，送禮自用皆宜。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730"/>
                </a:solidFill>
                <a:latin typeface="Microsoft JhengHei"/>
              </a:rPr>
              <a:t>5. 4 色可選：黑／紫／黃／綠。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32120"/>
            <a:ext cx="1645920" cy="384048"/>
          </a:xfrm>
          <a:prstGeom prst="round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SEO 後台關鍵字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5559552"/>
            <a:ext cx="9144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372"/>
                </a:solidFill>
                <a:latin typeface="Microsoft JhengHei"/>
              </a:rPr>
              <a:t>AirTag 保護套,AirTag 殼,星型,EVA,鑰匙圈,YOYOISLES,Air Stars,定位器套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Microsoft JhengHei"/>
              </a:rPr>
              <a:t>官網全站活動 ｜ Wokyis × LYCANDER ｜ 2026/7/15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Microsoft Jheng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7A29"/>
                </a:solidFill>
                <a:latin typeface="Microsoft JhengHei"/>
              </a:rPr>
              <a:t>APPENDIX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來源與前提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7A29"/>
                </a:solidFill>
                <a:latin typeface="Microsoft JhengHei"/>
              </a:rPr>
              <a:t>待覆核（正式上線前確認）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• 所有台幣售價／活動價／毛利、贈品庫存上限 → 以官網後台 SKU 與採購報價覆核。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• Wokyis、YOYOISLES 是否確定上架官網／蝦皮 shinetech88888（目前未上架）。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• 會員入會禮最終方案（NT$100 購物金 vs YOYOISLES AirTag 套）。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22730"/>
                </a:solidFill>
                <a:latin typeface="Microsoft JhengHei"/>
              </a:rPr>
              <a:t>• 商品圖：簡報佔位框由行銷公司置入官方商品圖。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2A4A"/>
                </a:solidFill>
                <a:latin typeface="Microsoft JhengHei"/>
              </a:rPr>
              <a:t>公開來源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110642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22730"/>
                </a:solidFill>
                <a:latin typeface="Microsoft JhengHei"/>
              </a:rPr>
              <a:t>• Wokyis：wokyis.com（M5 10Gbps / 80Gbps）、Amazon B0FPB67QBV、Kickstarter「Wokyis M5」。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22730"/>
                </a:solidFill>
                <a:latin typeface="Microsoft JhengHei"/>
              </a:rPr>
              <a:t>• YOYOISLES：yoyoisles.com、Amazon B0F3NLL3R5、SunSky EDA007793101A。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22730"/>
                </a:solidFill>
                <a:latin typeface="Microsoft JhengHei"/>
              </a:rPr>
              <a:t>• LYCANDER：lycander.tw、lycander.tw/hdmi、Yahoo 購物（HDMI 8K、OLIKA W3）、PChome（Combo Lite）、STUDIO A、momo。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22730"/>
                </a:solidFill>
                <a:latin typeface="Microsoft JhengHei"/>
              </a:rPr>
              <a:t>• 蝦皮賣場：shopee.tw/shinetech88888（炫輝國際，133 件商品）。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A6372"/>
                </a:solidFill>
                <a:latin typeface="Microsoft JhengHei"/>
              </a:rPr>
              <a:t>• 方法論：FrankAie-hub — marketing-team / listing-optimizer / pricing-calculator / consumers-taiwan / seo-keyword-expander。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Microsoft JhengHei"/>
              </a:rPr>
              <a:t>官網全站活動 ｜ Wokyis × LYCANDER ｜ 2026/7/15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Microsoft JhengHe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